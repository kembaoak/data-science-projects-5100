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Nuni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Edwin Okwo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Nuni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2-09T20:43:10.677">
    <p:pos x="6000" y="0"/>
    <p:text>https://docs.google.com/document/d/1o3VXoaFj2ScD-8Iam2xEr1Zetg4yfbmldOD4jAQVM28/edit?usp=sharing</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2-10T01:25:02.801">
    <p:pos x="6000" y="0"/>
    <p:text>the text on the left here is nice as it talks about imbalance in the dataset.I added recommendation of how we should talk about this in the notes of this slide.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ictionary.cambridge.org/us/dictionary/english/sentimen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Note </a:t>
            </a:r>
            <a:endParaRPr/>
          </a:p>
          <a:p>
            <a:pPr indent="0" lvl="0" marL="0" rtl="0" algn="l">
              <a:spcBef>
                <a:spcPts val="0"/>
              </a:spcBef>
              <a:spcAft>
                <a:spcPts val="0"/>
              </a:spcAft>
              <a:buNone/>
            </a:pPr>
            <a:r>
              <a:rPr lang="en"/>
              <a:t>This is the final project for group 3 on sentiment Analysis.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5ec3b984e_0_3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5ec3b984e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5ec3b984e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5ec3b984e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SPEAKER NOTES: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project focuses on Sentiment Analysis but we will not be doing a thorough job if we don’t explain what the word Sentiment means. Most know sentiment as the emotion that we attach to things.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per </a:t>
            </a:r>
            <a:r>
              <a:rPr lang="en"/>
              <a:t>the Cambridge dictionary, </a:t>
            </a:r>
            <a:endParaRPr/>
          </a:p>
          <a:p>
            <a:pPr indent="0" lvl="0" marL="0" rtl="0" algn="l">
              <a:spcBef>
                <a:spcPts val="0"/>
              </a:spcBef>
              <a:spcAft>
                <a:spcPts val="0"/>
              </a:spcAft>
              <a:buNone/>
            </a:pPr>
            <a:r>
              <a:rPr lang="en"/>
              <a:t>Sentiment is a thought, opinion, or idea based on feeling about a situation, or a way of thinking about something.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According to Amazon Web Services Webpage, Sentiment Analysis is the process of analyzing digital text to determine if the emotional tone of the message is positive, neutral, or negative.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today’s world given the large amount of emails or comments on social media posts that one has to work with, Sentiment Analysis tools can help scan a text and automatically determine the author’s attitude toward a topic.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Obtained from: https://itresearches.com/sentiment-analysis/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https://dictionary.cambridge.org/us/dictionary/english/sentiment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https://aws.amazon.com/what-is/sentiment-analysis/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5ec3b984e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5ec3b984e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NOTES: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t>Today we’re looking at a problem that’s become increasingly important in the world of social media and digital communication: understanding sentiment in online posts.</a:t>
            </a:r>
            <a:endParaRPr/>
          </a:p>
          <a:p>
            <a:pPr indent="0" lvl="0" marL="0" rtl="0" algn="l">
              <a:lnSpc>
                <a:spcPct val="115000"/>
              </a:lnSpc>
              <a:spcBef>
                <a:spcPts val="1200"/>
              </a:spcBef>
              <a:spcAft>
                <a:spcPts val="0"/>
              </a:spcAft>
              <a:buClr>
                <a:schemeClr val="dk1"/>
              </a:buClr>
              <a:buSzPts val="1100"/>
              <a:buFont typeface="Arial"/>
              <a:buNone/>
            </a:pPr>
            <a:r>
              <a:rPr lang="en"/>
              <a:t>Social media platforms generate massive amounts of text every second, and organizations often want to understand whether users are expressing positive, negative, or neutral opinions. But manually reading and labeling all of this content isn’t realistic — it requires automated tools that can reliably interpret sentiment</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project focuses on two main research questions: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First</a:t>
            </a:r>
            <a:r>
              <a:rPr lang="en">
                <a:solidFill>
                  <a:schemeClr val="dk1"/>
                </a:solidFill>
              </a:rPr>
              <a:t>, can a fine-tuned Transformer model — in our case, a DistilBERT model — </a:t>
            </a:r>
            <a:r>
              <a:rPr i="1" lang="en">
                <a:solidFill>
                  <a:schemeClr val="dk1"/>
                </a:solidFill>
              </a:rPr>
              <a:t>reliably</a:t>
            </a:r>
            <a:r>
              <a:rPr lang="en">
                <a:solidFill>
                  <a:schemeClr val="dk1"/>
                </a:solidFill>
              </a:rPr>
              <a:t> classify social media text into Positive, Neutral, and Negative sentiment categories?</a:t>
            </a:r>
            <a:br>
              <a:rPr lang="en">
                <a:solidFill>
                  <a:schemeClr val="dk1"/>
                </a:solidFill>
              </a:rPr>
            </a:br>
            <a:r>
              <a:rPr lang="en">
                <a:solidFill>
                  <a:schemeClr val="dk1"/>
                </a:solidFill>
              </a:rPr>
              <a:t> We want to test whether this kind of model can handle noisy, informal, user-generated text and still make accurate predictions.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Second</a:t>
            </a:r>
            <a:r>
              <a:rPr lang="en">
                <a:solidFill>
                  <a:schemeClr val="dk1"/>
                </a:solidFill>
              </a:rPr>
              <a:t>, we investigate whether sentiment has any meaningful relationship with engagement metrics such as likes and retweets.</a:t>
            </a:r>
            <a:br>
              <a:rPr lang="en">
                <a:solidFill>
                  <a:schemeClr val="dk1"/>
                </a:solidFill>
              </a:rPr>
            </a:br>
            <a:r>
              <a:rPr lang="en">
                <a:solidFill>
                  <a:schemeClr val="dk1"/>
                </a:solidFill>
              </a:rPr>
              <a:t> In other words: </a:t>
            </a:r>
            <a:r>
              <a:rPr i="1" lang="en">
                <a:solidFill>
                  <a:schemeClr val="dk1"/>
                </a:solidFill>
              </a:rPr>
              <a:t>Do posts with certain sentiments tend to generate more engagement?</a:t>
            </a:r>
            <a:br>
              <a:rPr i="1" lang="en">
                <a:solidFill>
                  <a:schemeClr val="dk1"/>
                </a:solidFill>
              </a:rPr>
            </a:br>
            <a:r>
              <a:rPr lang="en">
                <a:solidFill>
                  <a:schemeClr val="dk1"/>
                </a:solidFill>
              </a:rPr>
              <a:t> This helps us understand whether emotional tone influences how people interact with content online.</a:t>
            </a:r>
            <a:endParaRPr>
              <a:solidFill>
                <a:schemeClr val="dk1"/>
              </a:solidFill>
            </a:endParaRPr>
          </a:p>
          <a:p>
            <a:pPr indent="0" lvl="0" marL="0" rtl="0" algn="l">
              <a:spcBef>
                <a:spcPts val="1200"/>
              </a:spcBef>
              <a:spcAft>
                <a:spcPts val="0"/>
              </a:spcAft>
              <a:buNone/>
            </a:pPr>
            <a:r>
              <a:rPr lang="en"/>
              <a:t>This problem is important because sentiment analysis is widely used in marketing, public opinion monitoring, customer feedback analysis, and even political forecasting. And knowing whether certain sentiments drive engagement can help creators, companies, and researchers better understand how audiences respond to content.”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5ec3b984e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5ec3b984e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SPEAKER NOTES: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this project, we used a text-based social media sentiment dataset. The data consists of short social media posts along with their associated sentiment labels.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regards structure of the the dataset, it  contains </a:t>
            </a:r>
            <a:r>
              <a:rPr b="1" lang="en">
                <a:solidFill>
                  <a:schemeClr val="dk1"/>
                </a:solidFill>
              </a:rPr>
              <a:t>732 records and 15 variables</a:t>
            </a:r>
            <a:r>
              <a:rPr lang="en">
                <a:solidFill>
                  <a:schemeClr val="dk1"/>
                </a:solidFill>
              </a:rPr>
              <a:t>, which is an appropriate size for exploratory sentiment analysis and model development on a smaller scale.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dataset was sourced from </a:t>
            </a:r>
            <a:r>
              <a:rPr b="1" lang="en">
                <a:solidFill>
                  <a:schemeClr val="dk1"/>
                </a:solidFill>
              </a:rPr>
              <a:t>Kaggle</a:t>
            </a:r>
            <a:r>
              <a:rPr lang="en">
                <a:solidFill>
                  <a:schemeClr val="dk1"/>
                </a:solidFill>
              </a:rPr>
              <a:t>, created and published by a contributor who compiled publicly accessible social media text. It was downloaded directly from the Kaggle repository and then imported into our analysis notebook. The dataset is licensed under </a:t>
            </a:r>
            <a:r>
              <a:rPr b="1" lang="en">
                <a:solidFill>
                  <a:schemeClr val="dk1"/>
                </a:solidFill>
              </a:rPr>
              <a:t>CC0 Public Domain</a:t>
            </a:r>
            <a:r>
              <a:rPr lang="en">
                <a:solidFill>
                  <a:schemeClr val="dk1"/>
                </a:solidFill>
              </a:rPr>
              <a:t>, meaning it is freely available for research and educational use, with no restrictions.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terms of quality, the dataset has a </a:t>
            </a:r>
            <a:r>
              <a:rPr b="1" lang="en">
                <a:solidFill>
                  <a:schemeClr val="dk1"/>
                </a:solidFill>
              </a:rPr>
              <a:t>usability score of 10</a:t>
            </a:r>
            <a:r>
              <a:rPr lang="en">
                <a:solidFill>
                  <a:schemeClr val="dk1"/>
                </a:solidFill>
              </a:rPr>
              <a:t>, indicating that it is well-structured, clean, and includes clearly defined variables. The sentiment labels are standardized, and the dataset contains the key features needed for our project, such as text content, sentiment category, and engagement metrics.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downloading, we processed the data by cleaning missing values, converting sentiment labels to lowercase, stripping whitespace, and constructing our engagement variable. These preprocessing steps ensured the dataset was ready for both sentiment classification and regression modeling.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Regarding ethics:</a:t>
            </a:r>
            <a:r>
              <a:rPr lang="en">
                <a:solidFill>
                  <a:schemeClr val="dk1"/>
                </a:solidFill>
              </a:rPr>
              <a:t> The dataset contains publicly available social media posts, so informed consent is not documented. Some usernames are visible, meaning the data is not fully anonymized, even though it is released under a CC0 license. To protect privacy, we filtered out all usernames and only used the variables relevant to our analysis.</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5ec3b984e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5ec3b984e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NOTES: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
                <a:solidFill>
                  <a:schemeClr val="dk1"/>
                </a:solidFill>
              </a:rPr>
              <a:t>The dataset was first cleaned to ensure quality and consistency. Missing or NaN values were removed to guarantee completeness. We filtered the dataset to retain only variables relevant to the project, including post text, sentiment label, and engagement metrics. Usernames were removed to protect privacy and maintain ethical standards.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Sentiment labels were cleaned and standardized by converting to lowercase and removing extra spaces. Because some original sentiment categories had very few examples, we grouped them into three main classes—positive, negative, and neutral—to create consistent categories suitable for model training.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An </a:t>
            </a:r>
            <a:r>
              <a:rPr b="1" lang="en">
                <a:solidFill>
                  <a:schemeClr val="dk1"/>
                </a:solidFill>
              </a:rPr>
              <a:t>engagement score</a:t>
            </a:r>
            <a:r>
              <a:rPr lang="en">
                <a:solidFill>
                  <a:schemeClr val="dk1"/>
                </a:solidFill>
              </a:rPr>
              <a:t> was constructed by summing likes and retweets, which was later used as the dependent variable in regression analysis.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Finally, the data was split into </a:t>
            </a:r>
            <a:r>
              <a:rPr b="1" lang="en">
                <a:solidFill>
                  <a:schemeClr val="dk1"/>
                </a:solidFill>
              </a:rPr>
              <a:t>training, validation, and test sets</a:t>
            </a:r>
            <a:r>
              <a:rPr lang="en">
                <a:solidFill>
                  <a:schemeClr val="dk1"/>
                </a:solidFill>
              </a:rPr>
              <a:t> to prepare for model development. The training set was used to fit the model, the validation set to tune hyperparameters, and the test set to evaluate final performance. Splits were stratified by sentiment label to preserve class distribution, using an 70/15/15 proportion for train/validation/test.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5fea63a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5fea63a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5fea63a93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5fea63a93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5fea63a93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5fea63a93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5fea63a93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5fea63a93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Just a draft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you have is great re: positive posts dominating.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5fea63a93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5fea63a93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5fea63a9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5fea63a9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For this project, we fine-tuned a </a:t>
            </a:r>
            <a:r>
              <a:rPr b="1" lang="en">
                <a:solidFill>
                  <a:schemeClr val="dk1"/>
                </a:solidFill>
              </a:rPr>
              <a:t>DistilBERT transformer model</a:t>
            </a:r>
            <a:r>
              <a:rPr lang="en">
                <a:solidFill>
                  <a:schemeClr val="dk1"/>
                </a:solidFill>
              </a:rPr>
              <a:t> on our cleaned and labeled social-media sentiment dataset.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model was trained to classify text into </a:t>
            </a:r>
            <a:r>
              <a:rPr b="1" lang="en">
                <a:solidFill>
                  <a:schemeClr val="dk1"/>
                </a:solidFill>
              </a:rPr>
              <a:t>three sentiment categories: Negative, Neutral, and Positive</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We used a </a:t>
            </a:r>
            <a:r>
              <a:rPr b="1" lang="en">
                <a:solidFill>
                  <a:schemeClr val="dk1"/>
                </a:solidFill>
              </a:rPr>
              <a:t>weighted loss function</a:t>
            </a:r>
            <a:r>
              <a:rPr lang="en">
                <a:solidFill>
                  <a:schemeClr val="dk1"/>
                </a:solidFill>
              </a:rPr>
              <a:t> to address class imbalance since positive comments were over-represented in the dataset.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5fea63a93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5fea63a93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5ec3b984e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5ec3b984e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Notes: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the analysis, what do the results show us?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61f2923d8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61f2923d8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Speaker Notes – Overall Model Performance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Based on the classification report obtained while validaating our model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Our model achieved an </a:t>
            </a:r>
            <a:r>
              <a:rPr b="1" lang="en">
                <a:solidFill>
                  <a:schemeClr val="dk1"/>
                </a:solidFill>
              </a:rPr>
              <a:t>overall accuracy of 94%</a:t>
            </a:r>
            <a:r>
              <a:rPr lang="en">
                <a:solidFill>
                  <a:schemeClr val="dk1"/>
                </a:solidFill>
              </a:rPr>
              <a:t>, showing strong performance across all sentiment classes.</a:t>
            </a:r>
            <a:br>
              <a:rPr lang="en">
                <a:solidFill>
                  <a:schemeClr val="dk1"/>
                </a:solidFill>
              </a:rPr>
            </a:b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Macro F1-score:</a:t>
            </a:r>
            <a:r>
              <a:rPr lang="en">
                <a:solidFill>
                  <a:schemeClr val="dk1"/>
                </a:solidFill>
              </a:rPr>
              <a:t> 0.89 → shows (relally good )  average performance across classes.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Weighted F1-score:</a:t>
            </a:r>
            <a:r>
              <a:rPr lang="en">
                <a:solidFill>
                  <a:schemeClr val="dk1"/>
                </a:solidFill>
              </a:rPr>
              <a:t> 0.94 → which accounts for class imbalances and overall performance(is also really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Key takeaway:</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model is especially strong at identifying </a:t>
            </a:r>
            <a:r>
              <a:rPr b="1" lang="en">
                <a:solidFill>
                  <a:schemeClr val="dk1"/>
                </a:solidFill>
              </a:rPr>
              <a:t>positive</a:t>
            </a:r>
            <a:r>
              <a:rPr lang="en">
                <a:solidFill>
                  <a:schemeClr val="dk1"/>
                </a:solidFill>
              </a:rPr>
              <a:t> and </a:t>
            </a:r>
            <a:r>
              <a:rPr b="1" lang="en">
                <a:solidFill>
                  <a:schemeClr val="dk1"/>
                </a:solidFill>
              </a:rPr>
              <a:t>negative</a:t>
            </a:r>
            <a:r>
              <a:rPr lang="en">
                <a:solidFill>
                  <a:schemeClr val="dk1"/>
                </a:solidFill>
              </a:rPr>
              <a:t> sentiments.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a:t>
            </a:r>
            <a:r>
              <a:rPr b="1" lang="en">
                <a:solidFill>
                  <a:schemeClr val="dk1"/>
                </a:solidFill>
              </a:rPr>
              <a:t>neutral class</a:t>
            </a:r>
            <a:r>
              <a:rPr lang="en">
                <a:solidFill>
                  <a:schemeClr val="dk1"/>
                </a:solidFill>
              </a:rPr>
              <a:t> is slightly more challenging, which is expected due to ambiguity in neutral text category.</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b="1" sz="1300">
              <a:solidFill>
                <a:schemeClr val="dk1"/>
              </a:solidFill>
            </a:endParaRPr>
          </a:p>
          <a:p>
            <a:pPr indent="0" lvl="0" marL="457200" rtl="0" algn="l">
              <a:lnSpc>
                <a:spcPct val="115000"/>
              </a:lnSpc>
              <a:spcBef>
                <a:spcPts val="1200"/>
              </a:spcBef>
              <a:spcAft>
                <a:spcPts val="1200"/>
              </a:spcAft>
              <a:buNone/>
            </a:pPr>
            <a:r>
              <a:t/>
            </a:r>
            <a:endParaRPr sz="13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5ec3b984e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a5ec3b984e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SPEAKER NOTES: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
                <a:solidFill>
                  <a:schemeClr val="dk1"/>
                </a:solidFill>
              </a:rPr>
              <a:t>To understand where exactly the model performs well and where it struggles, we created a </a:t>
            </a:r>
            <a:r>
              <a:rPr b="1" lang="en">
                <a:solidFill>
                  <a:schemeClr val="dk1"/>
                </a:solidFill>
              </a:rPr>
              <a:t>confusion matrix</a:t>
            </a:r>
            <a:r>
              <a:rPr lang="en">
                <a:solidFill>
                  <a:schemeClr val="dk1"/>
                </a:solidFill>
              </a:rPr>
              <a:t>. ..Looking at the diagonal values, we see that the model performs extremly well on </a:t>
            </a:r>
            <a:r>
              <a:rPr b="1" lang="en">
                <a:solidFill>
                  <a:schemeClr val="dk1"/>
                </a:solidFill>
              </a:rPr>
              <a:t>positive and negative sentiments</a:t>
            </a:r>
            <a:r>
              <a:rPr lang="en">
                <a:solidFill>
                  <a:schemeClr val="dk1"/>
                </a:solidFill>
              </a:rPr>
              <a:t>. As we can see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For the Negatives:</a:t>
            </a:r>
            <a:r>
              <a:rPr lang="en">
                <a:solidFill>
                  <a:schemeClr val="dk1"/>
                </a:solidFill>
              </a:rPr>
              <a:t> 23 out of 26 classified correctly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And for the Positives:</a:t>
            </a:r>
            <a:r>
              <a:rPr lang="en">
                <a:solidFill>
                  <a:schemeClr val="dk1"/>
                </a:solidFill>
              </a:rPr>
              <a:t> 69 out of 71 classified correctly</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lang="en">
                <a:solidFill>
                  <a:schemeClr val="dk1"/>
                </a:solidFill>
              </a:rPr>
              <a:t>The main challenge is with the </a:t>
            </a:r>
            <a:r>
              <a:rPr b="1" lang="en">
                <a:solidFill>
                  <a:schemeClr val="dk1"/>
                </a:solidFill>
              </a:rPr>
              <a:t>neutral class((with </a:t>
            </a:r>
            <a:r>
              <a:rPr lang="en">
                <a:solidFill>
                  <a:schemeClr val="dk1"/>
                </a:solidFill>
              </a:rPr>
              <a:t>6 out of 11 classified correctly</a:t>
            </a:r>
            <a:r>
              <a:rPr b="1" lang="en">
                <a:solidFill>
                  <a:schemeClr val="dk1"/>
                </a:solidFill>
              </a:rPr>
              <a:t>)</a:t>
            </a:r>
            <a:r>
              <a:rPr lang="en">
                <a:solidFill>
                  <a:schemeClr val="dk1"/>
                </a:solidFill>
              </a:rPr>
              <a:t>, likely due to its smaller size in the dataset and the difficulty of distinguishing neutral sentiments from both positive and negative ones. Despite this, the model demonstrates </a:t>
            </a:r>
            <a:r>
              <a:rPr b="1" lang="en">
                <a:solidFill>
                  <a:schemeClr val="dk1"/>
                </a:solidFill>
              </a:rPr>
              <a:t>strong overall performance</a:t>
            </a:r>
            <a:r>
              <a:rPr lang="en">
                <a:solidFill>
                  <a:schemeClr val="dk1"/>
                </a:solidFill>
              </a:rPr>
              <a:t> in accurately classifying sentiments.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f22e2858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f22e2858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Speaker Notes – Model Evaluation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 also further evaluated model quality using a </a:t>
            </a:r>
            <a:r>
              <a:rPr b="1" lang="en">
                <a:solidFill>
                  <a:schemeClr val="dk1"/>
                </a:solidFill>
              </a:rPr>
              <a:t>held-out test set</a:t>
            </a:r>
            <a:r>
              <a:rPr lang="en">
                <a:solidFill>
                  <a:schemeClr val="dk1"/>
                </a:solidFill>
              </a:rPr>
              <a:t> (which was 15% of the total dataset).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And Compared predicted labels to true labels: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Correct predictions:</a:t>
            </a:r>
            <a:r>
              <a:rPr lang="en">
                <a:solidFill>
                  <a:schemeClr val="dk1"/>
                </a:solidFill>
              </a:rPr>
              <a:t> 102 out of 108</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Test accuracy:</a:t>
            </a:r>
            <a:r>
              <a:rPr lang="en">
                <a:solidFill>
                  <a:schemeClr val="dk1"/>
                </a:solidFill>
              </a:rPr>
              <a:t> 0.94</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shows the model </a:t>
            </a:r>
            <a:r>
              <a:rPr b="1" lang="en">
                <a:solidFill>
                  <a:schemeClr val="dk1"/>
                </a:solidFill>
              </a:rPr>
              <a:t>generalizes well</a:t>
            </a:r>
            <a:r>
              <a:rPr lang="en">
                <a:solidFill>
                  <a:schemeClr val="dk1"/>
                </a:solidFill>
              </a:rPr>
              <a:t> and performs reliably on unseen data.</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5fea63a93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5fea63a93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Speaker Notes – Regression Analysis Slide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To understand how sentiment affects engagement, we ran a </a:t>
            </a:r>
            <a:r>
              <a:rPr b="1" lang="en">
                <a:solidFill>
                  <a:schemeClr val="dk1"/>
                </a:solidFill>
              </a:rPr>
              <a:t>linear regression</a:t>
            </a:r>
            <a:r>
              <a:rPr lang="en">
                <a:solidFill>
                  <a:schemeClr val="dk1"/>
                </a:solidFill>
              </a:rPr>
              <a:t> using </a:t>
            </a:r>
            <a:r>
              <a:rPr b="1" lang="en">
                <a:solidFill>
                  <a:schemeClr val="dk1"/>
                </a:solidFill>
              </a:rPr>
              <a:t>dummy variables</a:t>
            </a:r>
            <a:r>
              <a:rPr lang="en">
                <a:solidFill>
                  <a:schemeClr val="dk1"/>
                </a:solidFill>
              </a:rPr>
              <a:t>, with </a:t>
            </a:r>
            <a:r>
              <a:rPr b="1" lang="en">
                <a:solidFill>
                  <a:schemeClr val="dk1"/>
                </a:solidFill>
              </a:rPr>
              <a:t>neutral sentiment as the baseline</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a:t>
            </a:r>
            <a:r>
              <a:rPr b="1" lang="en">
                <a:solidFill>
                  <a:schemeClr val="dk1"/>
                </a:solidFill>
              </a:rPr>
              <a:t>overall model is significant</a:t>
            </a:r>
            <a:r>
              <a:rPr lang="en">
                <a:solidFill>
                  <a:schemeClr val="dk1"/>
                </a:solidFill>
              </a:rPr>
              <a:t>, indicating that sentiment helps explain engagement and the results are not due to chance.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Positive sentiment</a:t>
            </a:r>
            <a:r>
              <a:rPr lang="en">
                <a:solidFill>
                  <a:schemeClr val="dk1"/>
                </a:solidFill>
              </a:rPr>
              <a:t> has a strong and significant effect—posts with positive sentiment receive noticeably more engagement than neutral posts.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Negative sentiment</a:t>
            </a:r>
            <a:r>
              <a:rPr lang="en">
                <a:solidFill>
                  <a:schemeClr val="dk1"/>
                </a:solidFill>
              </a:rPr>
              <a:t> is not significantly different from neutral, meaning engagement for negative posts is similar to neutral posts.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model’s </a:t>
            </a:r>
            <a:r>
              <a:rPr b="1" lang="en">
                <a:solidFill>
                  <a:schemeClr val="dk1"/>
                </a:solidFill>
              </a:rPr>
              <a:t>R-squared is 0.096</a:t>
            </a:r>
            <a:r>
              <a:rPr lang="en">
                <a:solidFill>
                  <a:schemeClr val="dk1"/>
                </a:solidFill>
              </a:rPr>
              <a:t>, showing that sentiment alone explains about </a:t>
            </a:r>
            <a:r>
              <a:rPr b="1" lang="en">
                <a:solidFill>
                  <a:schemeClr val="dk1"/>
                </a:solidFill>
              </a:rPr>
              <a:t>9.6% of the variation</a:t>
            </a:r>
            <a:r>
              <a:rPr lang="en">
                <a:solidFill>
                  <a:schemeClr val="dk1"/>
                </a:solidFill>
              </a:rPr>
              <a:t> in engagement. Other factors also contribute to engagement.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Main takeaway:</a:t>
            </a:r>
            <a:r>
              <a:rPr lang="en">
                <a:solidFill>
                  <a:schemeClr val="dk1"/>
                </a:solidFill>
              </a:rPr>
              <a:t> Positive posts drive engagement, negative posts behave like neutral, and sentiment has a </a:t>
            </a:r>
            <a:r>
              <a:rPr b="1" lang="en">
                <a:solidFill>
                  <a:schemeClr val="dk1"/>
                </a:solidFill>
              </a:rPr>
              <a:t>moderate but measurable impact</a:t>
            </a:r>
            <a:r>
              <a:rPr lang="en">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needs refining: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ANOVA and regression output showed a </a:t>
            </a:r>
            <a:r>
              <a:rPr b="1" lang="en">
                <a:solidFill>
                  <a:schemeClr val="dk1"/>
                </a:solidFill>
              </a:rPr>
              <a:t>statistically significant relationship</a:t>
            </a:r>
            <a:r>
              <a:rPr lang="en">
                <a:solidFill>
                  <a:schemeClr val="dk1"/>
                </a:solidFill>
              </a:rPr>
              <a:t> between sentiment category and engagement levels.</a:t>
            </a:r>
            <a:br>
              <a:rPr lang="en">
                <a:solidFill>
                  <a:schemeClr val="dk1"/>
                </a:solidFill>
              </a:rPr>
            </a:br>
            <a:endParaRPr>
              <a:solidFill>
                <a:schemeClr val="dk1"/>
              </a:solidFill>
            </a:endParaRPr>
          </a:p>
          <a:p>
            <a:pPr indent="0" lvl="0" marL="0" rtl="0" algn="l">
              <a:spcBef>
                <a:spcPts val="0"/>
              </a:spcBef>
              <a:spcAft>
                <a:spcPts val="0"/>
              </a:spcAft>
              <a:buNone/>
            </a:pPr>
            <a:r>
              <a:rPr lang="en">
                <a:solidFill>
                  <a:schemeClr val="dk1"/>
                </a:solidFill>
              </a:rPr>
              <a:t>Positive sentiment had </a:t>
            </a:r>
            <a:r>
              <a:rPr b="1" lang="en">
                <a:solidFill>
                  <a:schemeClr val="dk1"/>
                </a:solidFill>
              </a:rPr>
              <a:t>significantly higher engagement</a:t>
            </a:r>
            <a:r>
              <a:rPr lang="en">
                <a:solidFill>
                  <a:schemeClr val="dk1"/>
                </a:solidFill>
              </a:rPr>
              <a:t> compared to neutral and negative posts.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ANOVA and regression output showed a </a:t>
            </a:r>
            <a:r>
              <a:rPr b="1" lang="en">
                <a:solidFill>
                  <a:schemeClr val="dk1"/>
                </a:solidFill>
              </a:rPr>
              <a:t>statistically significant relationship</a:t>
            </a:r>
            <a:r>
              <a:rPr lang="en">
                <a:solidFill>
                  <a:schemeClr val="dk1"/>
                </a:solidFill>
              </a:rPr>
              <a:t> between sentiment category and engagement levels.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Positive sentiment had </a:t>
            </a:r>
            <a:r>
              <a:rPr b="1" lang="en">
                <a:solidFill>
                  <a:schemeClr val="dk1"/>
                </a:solidFill>
              </a:rPr>
              <a:t>significantly higher engagement</a:t>
            </a:r>
            <a:r>
              <a:rPr lang="en">
                <a:solidFill>
                  <a:schemeClr val="dk1"/>
                </a:solidFill>
              </a:rPr>
              <a:t> compared to neutral and negative posts.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Model Performance &amp; Interpretation</a:t>
            </a:r>
            <a:br>
              <a:rPr b="1" lang="en">
                <a:solidFill>
                  <a:schemeClr val="dk1"/>
                </a:solidFill>
              </a:rPr>
            </a:b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DistilBERT achieved </a:t>
            </a:r>
            <a:r>
              <a:rPr b="1" lang="en">
                <a:solidFill>
                  <a:schemeClr val="dk1"/>
                </a:solidFill>
              </a:rPr>
              <a:t>strong accuracy</a:t>
            </a:r>
            <a:r>
              <a:rPr lang="en">
                <a:solidFill>
                  <a:schemeClr val="dk1"/>
                </a:solidFill>
              </a:rPr>
              <a:t> on Positive and Negative classes, with Neutral being the most challenging due to ambiguity and lower representation.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Regression results indicate that while sentiment influences engagement, </a:t>
            </a:r>
            <a:r>
              <a:rPr b="1" lang="en">
                <a:solidFill>
                  <a:schemeClr val="dk1"/>
                </a:solidFill>
              </a:rPr>
              <a:t>sentiment alone does not strongly predict engagement</a:t>
            </a:r>
            <a:r>
              <a:rPr lang="en">
                <a:solidFill>
                  <a:schemeClr val="dk1"/>
                </a:solidFill>
              </a:rPr>
              <a:t>, suggesting other factors also play a role.</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5ec3b984e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5ec3b984e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SPEAKER NOTES: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Speaker Notes – Key Findings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Our fine-tuned DistilBERT model effectively classifies social media posts into Positive, Negative, and Neutral sentiments.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model performs best on the dominant classes, especially positive and negative posts.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Statistical analysis shows a significant link between sentiment and engagement: positive posts get the most likes and retweets.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However, the R² is low (0.096), meaning sentiment explains only a small part of engagement variation—other factors are at play.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Neutral sentiment is the hardest to classify due to ambiguity and lower representation in the dataset.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f22e2858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f22e2858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SPEAKER NOTe: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Expand dataset, especially </a:t>
            </a:r>
            <a:r>
              <a:rPr b="1" lang="en">
                <a:solidFill>
                  <a:schemeClr val="dk1"/>
                </a:solidFill>
              </a:rPr>
              <a:t>Neutral posts</a:t>
            </a:r>
            <a:r>
              <a:rPr lang="en">
                <a:solidFill>
                  <a:schemeClr val="dk1"/>
                </a:solidFill>
              </a:rPr>
              <a:t>, to improve balance and reduce bias.</a:t>
            </a:r>
            <a:br>
              <a:rPr lang="en">
                <a:solidFill>
                  <a:schemeClr val="dk1"/>
                </a:solidFill>
              </a:rPr>
            </a:br>
            <a:endParaRPr>
              <a:solidFill>
                <a:schemeClr val="dk1"/>
              </a:solidFill>
            </a:endParaRPr>
          </a:p>
          <a:p>
            <a:pPr indent="0" lvl="0" marL="0" rtl="0" algn="l">
              <a:spcBef>
                <a:spcPts val="0"/>
              </a:spcBef>
              <a:spcAft>
                <a:spcPts val="0"/>
              </a:spcAft>
              <a:buNone/>
            </a:pPr>
            <a:r>
              <a:rPr lang="en">
                <a:solidFill>
                  <a:schemeClr val="dk1"/>
                </a:solidFill>
              </a:rPr>
              <a:t>Refine </a:t>
            </a:r>
            <a:r>
              <a:rPr b="1" lang="en">
                <a:solidFill>
                  <a:schemeClr val="dk1"/>
                </a:solidFill>
              </a:rPr>
              <a:t>sentiment labeling</a:t>
            </a:r>
            <a:r>
              <a:rPr lang="en">
                <a:solidFill>
                  <a:schemeClr val="dk1"/>
                </a:solidFill>
              </a:rPr>
              <a:t> to reduce ambiguity and misclassification.</a:t>
            </a:r>
            <a:br>
              <a:rPr lang="en">
                <a:solidFill>
                  <a:schemeClr val="dk1"/>
                </a:solidFill>
              </a:rPr>
            </a:br>
            <a:endParaRPr>
              <a:solidFill>
                <a:schemeClr val="dk1"/>
              </a:solidFill>
            </a:endParaRPr>
          </a:p>
          <a:p>
            <a:pPr indent="0" lvl="0" marL="0" rtl="0" algn="l">
              <a:spcBef>
                <a:spcPts val="0"/>
              </a:spcBef>
              <a:spcAft>
                <a:spcPts val="0"/>
              </a:spcAft>
              <a:buNone/>
            </a:pPr>
            <a:r>
              <a:rPr lang="en">
                <a:solidFill>
                  <a:schemeClr val="dk1"/>
                </a:solidFill>
              </a:rPr>
              <a:t>Use advanced </a:t>
            </a:r>
            <a:r>
              <a:rPr b="1" lang="en">
                <a:solidFill>
                  <a:schemeClr val="dk1"/>
                </a:solidFill>
              </a:rPr>
              <a:t>feature extraction</a:t>
            </a:r>
            <a:r>
              <a:rPr lang="en">
                <a:solidFill>
                  <a:schemeClr val="dk1"/>
                </a:solidFill>
              </a:rPr>
              <a:t> (contextual embeddings, linguistic cues) for subtle tone detection.</a:t>
            </a:r>
            <a:br>
              <a:rPr lang="en">
                <a:solidFill>
                  <a:schemeClr val="dk1"/>
                </a:solidFill>
              </a:rPr>
            </a:br>
            <a:endParaRPr>
              <a:solidFill>
                <a:schemeClr val="dk1"/>
              </a:solidFill>
            </a:endParaRPr>
          </a:p>
          <a:p>
            <a:pPr indent="0" lvl="0" marL="0" rtl="0" algn="l">
              <a:spcBef>
                <a:spcPts val="0"/>
              </a:spcBef>
              <a:spcAft>
                <a:spcPts val="0"/>
              </a:spcAft>
              <a:buNone/>
            </a:pPr>
            <a:r>
              <a:rPr lang="en">
                <a:solidFill>
                  <a:schemeClr val="dk1"/>
                </a:solidFill>
              </a:rPr>
              <a:t>Incorporate </a:t>
            </a:r>
            <a:r>
              <a:rPr b="1" lang="en">
                <a:solidFill>
                  <a:schemeClr val="dk1"/>
                </a:solidFill>
              </a:rPr>
              <a:t>multimodal data</a:t>
            </a:r>
            <a:r>
              <a:rPr lang="en">
                <a:solidFill>
                  <a:schemeClr val="dk1"/>
                </a:solidFill>
              </a:rPr>
              <a:t>: images, hashtags, emojis for richer context.</a:t>
            </a:r>
            <a:br>
              <a:rPr lang="en">
                <a:solidFill>
                  <a:schemeClr val="dk1"/>
                </a:solidFill>
              </a:rPr>
            </a:br>
            <a:endParaRPr>
              <a:solidFill>
                <a:schemeClr val="dk1"/>
              </a:solidFill>
            </a:endParaRPr>
          </a:p>
          <a:p>
            <a:pPr indent="0" lvl="0" marL="0" rtl="0" algn="l">
              <a:spcBef>
                <a:spcPts val="0"/>
              </a:spcBef>
              <a:spcAft>
                <a:spcPts val="0"/>
              </a:spcAft>
              <a:buNone/>
            </a:pPr>
            <a:r>
              <a:rPr lang="en">
                <a:solidFill>
                  <a:schemeClr val="dk1"/>
                </a:solidFill>
              </a:rPr>
              <a:t>Experiment with </a:t>
            </a:r>
            <a:r>
              <a:rPr b="1" lang="en">
                <a:solidFill>
                  <a:schemeClr val="dk1"/>
                </a:solidFill>
              </a:rPr>
              <a:t>stronger models</a:t>
            </a:r>
            <a:r>
              <a:rPr lang="en">
                <a:solidFill>
                  <a:schemeClr val="dk1"/>
                </a:solidFill>
              </a:rPr>
              <a:t> (RoBERTa, DeBERTa, GPT-based) or ensembles to boost performance.</a:t>
            </a:r>
            <a:br>
              <a:rPr lang="en">
                <a:solidFill>
                  <a:schemeClr val="dk1"/>
                </a:solidFill>
              </a:rPr>
            </a:br>
            <a:endParaRPr>
              <a:solidFill>
                <a:schemeClr val="dk1"/>
              </a:solidFill>
            </a:endParaRPr>
          </a:p>
          <a:p>
            <a:pPr indent="0" lvl="0" marL="0" rtl="0" algn="l">
              <a:spcBef>
                <a:spcPts val="0"/>
              </a:spcBef>
              <a:spcAft>
                <a:spcPts val="0"/>
              </a:spcAft>
              <a:buNone/>
            </a:pPr>
            <a:r>
              <a:rPr lang="en">
                <a:solidFill>
                  <a:schemeClr val="dk1"/>
                </a:solidFill>
              </a:rPr>
              <a:t>Conduct deeper </a:t>
            </a:r>
            <a:r>
              <a:rPr b="1" lang="en">
                <a:solidFill>
                  <a:schemeClr val="dk1"/>
                </a:solidFill>
              </a:rPr>
              <a:t>engagement analysis</a:t>
            </a:r>
            <a:r>
              <a:rPr lang="en">
                <a:solidFill>
                  <a:schemeClr val="dk1"/>
                </a:solidFill>
              </a:rPr>
              <a:t> using factors like posting time, account influence, follower count, and topic.</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61f2923d8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a61f2923d8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Notes: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for listening to our presentation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comments" Target="../comments/comment2.xml"/><Relationship Id="rId4" Type="http://schemas.openxmlformats.org/officeDocument/2006/relationships/image" Target="../media/image6.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00753" y="11647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Sentiment Analysis Project</a:t>
            </a:r>
            <a:endParaRPr b="1"/>
          </a:p>
        </p:txBody>
      </p:sp>
      <p:sp>
        <p:nvSpPr>
          <p:cNvPr id="129" name="Google Shape;129;p13"/>
          <p:cNvSpPr txBox="1"/>
          <p:nvPr>
            <p:ph idx="1" type="subTitle"/>
          </p:nvPr>
        </p:nvSpPr>
        <p:spPr>
          <a:xfrm>
            <a:off x="1891350" y="2612833"/>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 5100 Group 3 Presentation</a:t>
            </a:r>
            <a:endParaRPr/>
          </a:p>
        </p:txBody>
      </p:sp>
      <p:sp>
        <p:nvSpPr>
          <p:cNvPr id="130" name="Google Shape;130;p13"/>
          <p:cNvSpPr txBox="1"/>
          <p:nvPr>
            <p:ph idx="1" type="subTitle"/>
          </p:nvPr>
        </p:nvSpPr>
        <p:spPr>
          <a:xfrm>
            <a:off x="1951025" y="3135433"/>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Edwin Okwor, Anushka Naidu and Jimmy Nam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394100" y="324500"/>
            <a:ext cx="8379600" cy="72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Agenda</a:t>
            </a:r>
            <a:endParaRPr/>
          </a:p>
        </p:txBody>
      </p:sp>
      <p:sp>
        <p:nvSpPr>
          <p:cNvPr id="136" name="Google Shape;136;p14"/>
          <p:cNvSpPr txBox="1"/>
          <p:nvPr>
            <p:ph idx="4294967295" type="body"/>
          </p:nvPr>
        </p:nvSpPr>
        <p:spPr>
          <a:xfrm>
            <a:off x="311700" y="2070575"/>
            <a:ext cx="2471700" cy="12558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Nunito"/>
              <a:buChar char="●"/>
            </a:pPr>
            <a:r>
              <a:rPr lang="en" sz="1400">
                <a:latin typeface="Nunito"/>
                <a:ea typeface="Nunito"/>
                <a:cs typeface="Nunito"/>
                <a:sym typeface="Nunito"/>
              </a:rPr>
              <a:t>Brief Intro</a:t>
            </a:r>
            <a:endParaRPr sz="1400">
              <a:latin typeface="Nunito"/>
              <a:ea typeface="Nunito"/>
              <a:cs typeface="Nunito"/>
              <a:sym typeface="Nunito"/>
            </a:endParaRPr>
          </a:p>
          <a:p>
            <a:pPr indent="0" lvl="0" marL="457200" rtl="0" algn="l">
              <a:spcBef>
                <a:spcPts val="800"/>
              </a:spcBef>
              <a:spcAft>
                <a:spcPts val="0"/>
              </a:spcAft>
              <a:buNone/>
            </a:pPr>
            <a:r>
              <a:t/>
            </a:r>
            <a:endParaRPr sz="1400">
              <a:latin typeface="Nunito"/>
              <a:ea typeface="Nunito"/>
              <a:cs typeface="Nunito"/>
              <a:sym typeface="Nunito"/>
            </a:endParaRPr>
          </a:p>
          <a:p>
            <a:pPr indent="0" lvl="0" marL="457200" rtl="0" algn="l">
              <a:spcBef>
                <a:spcPts val="800"/>
              </a:spcBef>
              <a:spcAft>
                <a:spcPts val="800"/>
              </a:spcAft>
              <a:buNone/>
            </a:pPr>
            <a:r>
              <a:t/>
            </a:r>
            <a:endParaRPr b="1" sz="1400"/>
          </a:p>
        </p:txBody>
      </p:sp>
      <p:sp>
        <p:nvSpPr>
          <p:cNvPr id="137" name="Google Shape;137;p14"/>
          <p:cNvSpPr/>
          <p:nvPr/>
        </p:nvSpPr>
        <p:spPr>
          <a:xfrm>
            <a:off x="3162427" y="1343925"/>
            <a:ext cx="2760600" cy="607800"/>
          </a:xfrm>
          <a:prstGeom prst="chevron">
            <a:avLst>
              <a:gd fmla="val 50000" name="adj"/>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138" name="Google Shape;138;p14"/>
          <p:cNvSpPr txBox="1"/>
          <p:nvPr>
            <p:ph idx="4294967295" type="body"/>
          </p:nvPr>
        </p:nvSpPr>
        <p:spPr>
          <a:xfrm>
            <a:off x="2961138" y="2070575"/>
            <a:ext cx="3221700" cy="12558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Font typeface="Nunito"/>
              <a:buChar char="●"/>
            </a:pPr>
            <a:r>
              <a:rPr lang="en" sz="1400">
                <a:latin typeface="Nunito"/>
                <a:ea typeface="Nunito"/>
                <a:cs typeface="Nunito"/>
                <a:sym typeface="Nunito"/>
              </a:rPr>
              <a:t>Research Question</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The “why”?</a:t>
            </a:r>
            <a:endParaRPr sz="1400">
              <a:latin typeface="Nunito"/>
              <a:ea typeface="Nunito"/>
              <a:cs typeface="Nunito"/>
              <a:sym typeface="Nunito"/>
            </a:endParaRPr>
          </a:p>
          <a:p>
            <a:pPr indent="0" lvl="0" marL="457200" rtl="0" algn="l">
              <a:spcBef>
                <a:spcPts val="800"/>
              </a:spcBef>
              <a:spcAft>
                <a:spcPts val="0"/>
              </a:spcAft>
              <a:buNone/>
            </a:pPr>
            <a:r>
              <a:t/>
            </a:r>
            <a:endParaRPr sz="1400"/>
          </a:p>
          <a:p>
            <a:pPr indent="0" lvl="0" marL="457200" rtl="0" algn="l">
              <a:spcBef>
                <a:spcPts val="800"/>
              </a:spcBef>
              <a:spcAft>
                <a:spcPts val="800"/>
              </a:spcAft>
              <a:buNone/>
            </a:pPr>
            <a:r>
              <a:t/>
            </a:r>
            <a:endParaRPr sz="1500"/>
          </a:p>
        </p:txBody>
      </p:sp>
      <p:sp>
        <p:nvSpPr>
          <p:cNvPr id="139" name="Google Shape;139;p14"/>
          <p:cNvSpPr txBox="1"/>
          <p:nvPr>
            <p:ph idx="4294967295" type="body"/>
          </p:nvPr>
        </p:nvSpPr>
        <p:spPr>
          <a:xfrm>
            <a:off x="3358450" y="4018250"/>
            <a:ext cx="2654700" cy="811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Font typeface="Nunito"/>
              <a:buChar char="●"/>
            </a:pPr>
            <a:r>
              <a:rPr lang="en" sz="1400">
                <a:latin typeface="Nunito"/>
                <a:ea typeface="Nunito"/>
                <a:cs typeface="Nunito"/>
                <a:sym typeface="Nunito"/>
              </a:rPr>
              <a:t>Key Statistics</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Potential Expansion</a:t>
            </a:r>
            <a:endParaRPr sz="1400">
              <a:latin typeface="Nunito"/>
              <a:ea typeface="Nunito"/>
              <a:cs typeface="Nunito"/>
              <a:sym typeface="Nunito"/>
            </a:endParaRPr>
          </a:p>
        </p:txBody>
      </p:sp>
      <p:sp>
        <p:nvSpPr>
          <p:cNvPr id="140" name="Google Shape;140;p14"/>
          <p:cNvSpPr txBox="1"/>
          <p:nvPr>
            <p:ph idx="4294967295" type="body"/>
          </p:nvPr>
        </p:nvSpPr>
        <p:spPr>
          <a:xfrm>
            <a:off x="6066100" y="1991675"/>
            <a:ext cx="2654700" cy="14136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Font typeface="Nunito"/>
              <a:buChar char="●"/>
            </a:pPr>
            <a:r>
              <a:rPr lang="en" sz="1400">
                <a:latin typeface="Nunito"/>
                <a:ea typeface="Nunito"/>
                <a:cs typeface="Nunito"/>
                <a:sym typeface="Nunito"/>
              </a:rPr>
              <a:t>Type of data</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Size of dataset</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Source and collection</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Quality</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Processing</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Privacy Consideration</a:t>
            </a:r>
            <a:endParaRPr sz="1400">
              <a:latin typeface="Nunito"/>
              <a:ea typeface="Nunito"/>
              <a:cs typeface="Nunito"/>
              <a:sym typeface="Nunito"/>
            </a:endParaRPr>
          </a:p>
        </p:txBody>
      </p:sp>
      <p:sp>
        <p:nvSpPr>
          <p:cNvPr id="141" name="Google Shape;141;p14"/>
          <p:cNvSpPr txBox="1"/>
          <p:nvPr>
            <p:ph idx="4294967295" type="body"/>
          </p:nvPr>
        </p:nvSpPr>
        <p:spPr>
          <a:xfrm>
            <a:off x="454775" y="4018250"/>
            <a:ext cx="2654700" cy="8112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Font typeface="Nunito"/>
              <a:buChar char="●"/>
            </a:pPr>
            <a:r>
              <a:rPr lang="en" sz="1400">
                <a:latin typeface="Nunito"/>
                <a:ea typeface="Nunito"/>
                <a:cs typeface="Nunito"/>
                <a:sym typeface="Nunito"/>
              </a:rPr>
              <a:t>Type of Problem</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Method Used</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Statistical Tests</a:t>
            </a:r>
            <a:endParaRPr sz="1400">
              <a:latin typeface="Nunito"/>
              <a:ea typeface="Nunito"/>
              <a:cs typeface="Nunito"/>
              <a:sym typeface="Nunito"/>
            </a:endParaRPr>
          </a:p>
        </p:txBody>
      </p:sp>
      <p:sp>
        <p:nvSpPr>
          <p:cNvPr id="142" name="Google Shape;142;p14"/>
          <p:cNvSpPr/>
          <p:nvPr/>
        </p:nvSpPr>
        <p:spPr>
          <a:xfrm>
            <a:off x="6013152" y="1343925"/>
            <a:ext cx="2760600" cy="607800"/>
          </a:xfrm>
          <a:prstGeom prst="chevron">
            <a:avLst>
              <a:gd fmla="val 50000" name="adj"/>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143" name="Google Shape;143;p14"/>
          <p:cNvSpPr txBox="1"/>
          <p:nvPr>
            <p:ph idx="4294967295" type="body"/>
          </p:nvPr>
        </p:nvSpPr>
        <p:spPr>
          <a:xfrm>
            <a:off x="6291850" y="1343924"/>
            <a:ext cx="2309100" cy="6078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b="1" lang="en" sz="1500">
                <a:solidFill>
                  <a:srgbClr val="FFFFFF"/>
                </a:solidFill>
              </a:rPr>
              <a:t>Data Description</a:t>
            </a:r>
            <a:endParaRPr b="1" sz="1500">
              <a:solidFill>
                <a:srgbClr val="FFFFFF"/>
              </a:solidFill>
            </a:endParaRPr>
          </a:p>
        </p:txBody>
      </p:sp>
      <p:sp>
        <p:nvSpPr>
          <p:cNvPr id="144" name="Google Shape;144;p14"/>
          <p:cNvSpPr/>
          <p:nvPr/>
        </p:nvSpPr>
        <p:spPr>
          <a:xfrm>
            <a:off x="311702" y="1304875"/>
            <a:ext cx="2760600" cy="607800"/>
          </a:xfrm>
          <a:prstGeom prst="chevron">
            <a:avLst>
              <a:gd fmla="val 50000" name="adj"/>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Introduction</a:t>
            </a:r>
            <a:endParaRPr b="1" sz="1600"/>
          </a:p>
        </p:txBody>
      </p:sp>
      <p:sp>
        <p:nvSpPr>
          <p:cNvPr id="145" name="Google Shape;145;p14"/>
          <p:cNvSpPr txBox="1"/>
          <p:nvPr/>
        </p:nvSpPr>
        <p:spPr>
          <a:xfrm>
            <a:off x="3500963" y="1440075"/>
            <a:ext cx="20835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Problem </a:t>
            </a:r>
            <a:endParaRPr/>
          </a:p>
        </p:txBody>
      </p:sp>
      <p:sp>
        <p:nvSpPr>
          <p:cNvPr id="146" name="Google Shape;146;p14"/>
          <p:cNvSpPr/>
          <p:nvPr/>
        </p:nvSpPr>
        <p:spPr>
          <a:xfrm>
            <a:off x="401825" y="3405275"/>
            <a:ext cx="2760600" cy="528900"/>
          </a:xfrm>
          <a:prstGeom prst="chevron">
            <a:avLst>
              <a:gd fmla="val 50000" name="adj"/>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Analysis</a:t>
            </a:r>
            <a:endParaRPr b="1" sz="1600"/>
          </a:p>
        </p:txBody>
      </p:sp>
      <p:sp>
        <p:nvSpPr>
          <p:cNvPr id="147" name="Google Shape;147;p14"/>
          <p:cNvSpPr/>
          <p:nvPr/>
        </p:nvSpPr>
        <p:spPr>
          <a:xfrm>
            <a:off x="3162300" y="3407875"/>
            <a:ext cx="2760600" cy="528900"/>
          </a:xfrm>
          <a:prstGeom prst="chevron">
            <a:avLst>
              <a:gd fmla="val 50000" name="adj"/>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Results</a:t>
            </a:r>
            <a:endParaRPr b="1" sz="1600"/>
          </a:p>
        </p:txBody>
      </p:sp>
      <p:sp>
        <p:nvSpPr>
          <p:cNvPr id="148" name="Google Shape;148;p14"/>
          <p:cNvSpPr/>
          <p:nvPr/>
        </p:nvSpPr>
        <p:spPr>
          <a:xfrm>
            <a:off x="6066100" y="3405275"/>
            <a:ext cx="2760600" cy="528900"/>
          </a:xfrm>
          <a:prstGeom prst="chevron">
            <a:avLst>
              <a:gd fmla="val 50000" name="adj"/>
            </a:avLst>
          </a:prstGeom>
          <a:solidFill>
            <a:schemeClr val="dk2"/>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1500">
                <a:solidFill>
                  <a:schemeClr val="dk1"/>
                </a:solidFill>
                <a:latin typeface="Calibri"/>
                <a:ea typeface="Calibri"/>
                <a:cs typeface="Calibri"/>
                <a:sym typeface="Calibri"/>
              </a:rPr>
              <a:t>Conclusion</a:t>
            </a:r>
            <a:endParaRPr b="1" sz="1600"/>
          </a:p>
        </p:txBody>
      </p:sp>
      <p:sp>
        <p:nvSpPr>
          <p:cNvPr id="149" name="Google Shape;149;p14"/>
          <p:cNvSpPr txBox="1"/>
          <p:nvPr>
            <p:ph idx="4294967295" type="body"/>
          </p:nvPr>
        </p:nvSpPr>
        <p:spPr>
          <a:xfrm>
            <a:off x="6066100" y="4066350"/>
            <a:ext cx="2654700" cy="8112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Font typeface="Nunito"/>
              <a:buChar char="●"/>
            </a:pPr>
            <a:r>
              <a:rPr lang="en" sz="1400">
                <a:latin typeface="Nunito"/>
                <a:ea typeface="Nunito"/>
                <a:cs typeface="Nunito"/>
                <a:sym typeface="Nunito"/>
              </a:rPr>
              <a:t>Answer to research question</a:t>
            </a:r>
            <a:endParaRPr sz="1400">
              <a:latin typeface="Nunito"/>
              <a:ea typeface="Nunito"/>
              <a:cs typeface="Nunito"/>
              <a:sym typeface="Nunito"/>
            </a:endParaRPr>
          </a:p>
          <a:p>
            <a:pPr indent="-317500" lvl="0" marL="457200" rtl="0" algn="l">
              <a:spcBef>
                <a:spcPts val="0"/>
              </a:spcBef>
              <a:spcAft>
                <a:spcPts val="0"/>
              </a:spcAft>
              <a:buSzPts val="1400"/>
              <a:buFont typeface="Nunito"/>
              <a:buChar char="●"/>
            </a:pPr>
            <a:r>
              <a:rPr lang="en" sz="1400">
                <a:latin typeface="Nunito"/>
                <a:ea typeface="Nunito"/>
                <a:cs typeface="Nunito"/>
                <a:sym typeface="Nunito"/>
              </a:rPr>
              <a:t>Limitations</a:t>
            </a:r>
            <a:endParaRPr sz="1400">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155" name="Google Shape;155;p15"/>
          <p:cNvSpPr txBox="1"/>
          <p:nvPr>
            <p:ph idx="1" type="body"/>
          </p:nvPr>
        </p:nvSpPr>
        <p:spPr>
          <a:xfrm>
            <a:off x="923100" y="1923175"/>
            <a:ext cx="4197900" cy="24480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Nunito"/>
              <a:buChar char="●"/>
            </a:pPr>
            <a:r>
              <a:rPr lang="en" sz="2000">
                <a:latin typeface="Nunito"/>
                <a:ea typeface="Nunito"/>
                <a:cs typeface="Nunito"/>
                <a:sym typeface="Nunito"/>
              </a:rPr>
              <a:t>What is Sentiment? </a:t>
            </a:r>
            <a:endParaRPr sz="2000">
              <a:latin typeface="Nunito"/>
              <a:ea typeface="Nunito"/>
              <a:cs typeface="Nunito"/>
              <a:sym typeface="Nunito"/>
            </a:endParaRPr>
          </a:p>
          <a:p>
            <a:pPr indent="-355600" lvl="0" marL="457200" rtl="0" algn="l">
              <a:spcBef>
                <a:spcPts val="0"/>
              </a:spcBef>
              <a:spcAft>
                <a:spcPts val="0"/>
              </a:spcAft>
              <a:buSzPts val="2000"/>
              <a:buChar char="●"/>
            </a:pPr>
            <a:r>
              <a:rPr lang="en" sz="2000">
                <a:latin typeface="Nunito"/>
                <a:ea typeface="Nunito"/>
                <a:cs typeface="Nunito"/>
                <a:sym typeface="Nunito"/>
              </a:rPr>
              <a:t>What is Sentiment Analysis?</a:t>
            </a:r>
            <a:r>
              <a:rPr lang="en" sz="2000"/>
              <a:t> </a:t>
            </a:r>
            <a:endParaRPr sz="2000"/>
          </a:p>
        </p:txBody>
      </p:sp>
      <p:pic>
        <p:nvPicPr>
          <p:cNvPr id="156" name="Google Shape;156;p15" title="shutterstock_1073953772.jpeg"/>
          <p:cNvPicPr preferRelativeResize="0"/>
          <p:nvPr/>
        </p:nvPicPr>
        <p:blipFill>
          <a:blip r:embed="rId3">
            <a:alphaModFix/>
          </a:blip>
          <a:stretch>
            <a:fillRect/>
          </a:stretch>
        </p:blipFill>
        <p:spPr>
          <a:xfrm>
            <a:off x="4792200" y="1455625"/>
            <a:ext cx="3882700" cy="2915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6"/>
          <p:cNvSpPr txBox="1"/>
          <p:nvPr>
            <p:ph type="title"/>
          </p:nvPr>
        </p:nvSpPr>
        <p:spPr>
          <a:xfrm>
            <a:off x="819150" y="845600"/>
            <a:ext cx="7505700" cy="62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Problem</a:t>
            </a:r>
            <a:endParaRPr/>
          </a:p>
        </p:txBody>
      </p:sp>
      <p:sp>
        <p:nvSpPr>
          <p:cNvPr id="162" name="Google Shape;162;p16"/>
          <p:cNvSpPr txBox="1"/>
          <p:nvPr>
            <p:ph idx="1" type="body"/>
          </p:nvPr>
        </p:nvSpPr>
        <p:spPr>
          <a:xfrm>
            <a:off x="794550" y="1900000"/>
            <a:ext cx="7554900" cy="2448000"/>
          </a:xfrm>
          <a:prstGeom prst="rect">
            <a:avLst/>
          </a:prstGeom>
        </p:spPr>
        <p:txBody>
          <a:bodyPr anchorCtr="0" anchor="t" bIns="91425" lIns="91425" spcFirstLastPara="1" rIns="91425" wrap="square" tIns="91425">
            <a:normAutofit fontScale="32500" lnSpcReduction="10000"/>
          </a:bodyPr>
          <a:lstStyle/>
          <a:p>
            <a:pPr indent="0" lvl="0" marL="0" rtl="0" algn="l">
              <a:spcBef>
                <a:spcPts val="0"/>
              </a:spcBef>
              <a:spcAft>
                <a:spcPts val="0"/>
              </a:spcAft>
              <a:buNone/>
            </a:pPr>
            <a:r>
              <a:rPr lang="en" sz="4800">
                <a:latin typeface="Nunito"/>
                <a:ea typeface="Nunito"/>
                <a:cs typeface="Nunito"/>
                <a:sym typeface="Nunito"/>
              </a:rPr>
              <a:t>Our project focuses on answering: </a:t>
            </a:r>
            <a:endParaRPr sz="4800">
              <a:latin typeface="Nunito"/>
              <a:ea typeface="Nunito"/>
              <a:cs typeface="Nunito"/>
              <a:sym typeface="Nunito"/>
            </a:endParaRPr>
          </a:p>
          <a:p>
            <a:pPr indent="-327660" lvl="0" marL="457200" rtl="0" algn="l">
              <a:spcBef>
                <a:spcPts val="1200"/>
              </a:spcBef>
              <a:spcAft>
                <a:spcPts val="0"/>
              </a:spcAft>
              <a:buClr>
                <a:srgbClr val="000000"/>
              </a:buClr>
              <a:buSzPct val="100000"/>
              <a:buFont typeface="Nunito"/>
              <a:buAutoNum type="arabicPeriod"/>
            </a:pPr>
            <a:r>
              <a:rPr lang="en" sz="4800">
                <a:solidFill>
                  <a:srgbClr val="000000"/>
                </a:solidFill>
                <a:latin typeface="Nunito"/>
                <a:ea typeface="Nunito"/>
                <a:cs typeface="Nunito"/>
                <a:sym typeface="Nunito"/>
              </a:rPr>
              <a:t>Can a fine-tuned Transformer model reliably classify social media text into Positive, Neutral, and Negative sentiments?</a:t>
            </a:r>
            <a:endParaRPr sz="4800">
              <a:solidFill>
                <a:srgbClr val="000000"/>
              </a:solidFill>
              <a:latin typeface="Nunito"/>
              <a:ea typeface="Nunito"/>
              <a:cs typeface="Nunito"/>
              <a:sym typeface="Nunito"/>
            </a:endParaRPr>
          </a:p>
          <a:p>
            <a:pPr indent="-327660" lvl="0" marL="457200" rtl="0" algn="l">
              <a:spcBef>
                <a:spcPts val="0"/>
              </a:spcBef>
              <a:spcAft>
                <a:spcPts val="0"/>
              </a:spcAft>
              <a:buClr>
                <a:srgbClr val="000000"/>
              </a:buClr>
              <a:buSzPct val="100000"/>
              <a:buFont typeface="Nunito"/>
              <a:buAutoNum type="arabicPeriod"/>
            </a:pPr>
            <a:r>
              <a:rPr lang="en" sz="4800">
                <a:solidFill>
                  <a:srgbClr val="000000"/>
                </a:solidFill>
                <a:latin typeface="Nunito"/>
                <a:ea typeface="Nunito"/>
                <a:cs typeface="Nunito"/>
                <a:sym typeface="Nunito"/>
              </a:rPr>
              <a:t>Is there a statistically significant relationship between sentiment and engagement metrics (likes and retweets)?</a:t>
            </a:r>
            <a:endParaRPr sz="4800">
              <a:solidFill>
                <a:srgbClr val="000000"/>
              </a:solidFill>
              <a:latin typeface="Nunito"/>
              <a:ea typeface="Nunito"/>
              <a:cs typeface="Nunito"/>
              <a:sym typeface="Nunito"/>
            </a:endParaRPr>
          </a:p>
          <a:p>
            <a:pPr indent="0" lvl="0" marL="457200" rtl="0" algn="l">
              <a:spcBef>
                <a:spcPts val="1200"/>
              </a:spcBef>
              <a:spcAft>
                <a:spcPts val="0"/>
              </a:spcAft>
              <a:buNone/>
            </a:pPr>
            <a:r>
              <a:t/>
            </a:r>
            <a:endParaRPr sz="2636">
              <a:latin typeface="Nunito"/>
              <a:ea typeface="Nunito"/>
              <a:cs typeface="Nunito"/>
              <a:sym typeface="Nunito"/>
            </a:endParaRPr>
          </a:p>
          <a:p>
            <a:pPr indent="0" lvl="0" marL="457200" rtl="0" algn="l">
              <a:spcBef>
                <a:spcPts val="1200"/>
              </a:spcBef>
              <a:spcAft>
                <a:spcPts val="0"/>
              </a:spcAft>
              <a:buNone/>
            </a:pPr>
            <a:r>
              <a:t/>
            </a:r>
            <a:endParaRPr sz="2000"/>
          </a:p>
          <a:p>
            <a:pPr indent="0" lvl="0" marL="457200" rtl="0" algn="l">
              <a:spcBef>
                <a:spcPts val="1200"/>
              </a:spcBef>
              <a:spcAft>
                <a:spcPts val="1200"/>
              </a:spcAft>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7"/>
          <p:cNvSpPr txBox="1"/>
          <p:nvPr>
            <p:ph type="title"/>
          </p:nvPr>
        </p:nvSpPr>
        <p:spPr>
          <a:xfrm>
            <a:off x="819150" y="656050"/>
            <a:ext cx="7505700" cy="56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Description</a:t>
            </a:r>
            <a:endParaRPr/>
          </a:p>
        </p:txBody>
      </p:sp>
      <p:sp>
        <p:nvSpPr>
          <p:cNvPr id="168" name="Google Shape;168;p17"/>
          <p:cNvSpPr txBox="1"/>
          <p:nvPr>
            <p:ph idx="1" type="body"/>
          </p:nvPr>
        </p:nvSpPr>
        <p:spPr>
          <a:xfrm>
            <a:off x="794550" y="1448550"/>
            <a:ext cx="6619200" cy="2748600"/>
          </a:xfrm>
          <a:prstGeom prst="rect">
            <a:avLst/>
          </a:prstGeom>
        </p:spPr>
        <p:txBody>
          <a:bodyPr anchorCtr="0" anchor="t" bIns="91425" lIns="91425" spcFirstLastPara="1" rIns="91425" wrap="square" tIns="91425">
            <a:noAutofit/>
          </a:bodyPr>
          <a:lstStyle/>
          <a:p>
            <a:pPr indent="-342900" lvl="0" marL="457200" rtl="0" algn="l">
              <a:spcBef>
                <a:spcPts val="1200"/>
              </a:spcBef>
              <a:spcAft>
                <a:spcPts val="0"/>
              </a:spcAft>
              <a:buSzPts val="1800"/>
              <a:buFont typeface="Nunito"/>
              <a:buChar char="●"/>
            </a:pPr>
            <a:r>
              <a:rPr lang="en" sz="1800">
                <a:latin typeface="Nunito"/>
                <a:ea typeface="Nunito"/>
                <a:cs typeface="Nunito"/>
                <a:sym typeface="Nunito"/>
              </a:rPr>
              <a:t>The dataset was retrieved from Kaggle.</a:t>
            </a:r>
            <a:endParaRPr sz="1800">
              <a:latin typeface="Nunito"/>
              <a:ea typeface="Nunito"/>
              <a:cs typeface="Nunito"/>
              <a:sym typeface="Nunito"/>
            </a:endParaRPr>
          </a:p>
          <a:p>
            <a:pPr indent="-342900" lvl="0" marL="457200" rtl="0" algn="l">
              <a:spcBef>
                <a:spcPts val="0"/>
              </a:spcBef>
              <a:spcAft>
                <a:spcPts val="0"/>
              </a:spcAft>
              <a:buSzPts val="1800"/>
              <a:buFont typeface="Nunito"/>
              <a:buChar char="●"/>
            </a:pPr>
            <a:r>
              <a:rPr lang="en" sz="1800">
                <a:latin typeface="Nunito"/>
                <a:ea typeface="Nunito"/>
                <a:cs typeface="Nunito"/>
                <a:sym typeface="Nunito"/>
              </a:rPr>
              <a:t>The dataset originally contains 732 records and 15 variables. </a:t>
            </a:r>
            <a:endParaRPr sz="1800">
              <a:latin typeface="Nunito"/>
              <a:ea typeface="Nunito"/>
              <a:cs typeface="Nunito"/>
              <a:sym typeface="Nunito"/>
            </a:endParaRPr>
          </a:p>
          <a:p>
            <a:pPr indent="-342900" lvl="0" marL="457200" rtl="0" algn="l">
              <a:spcBef>
                <a:spcPts val="0"/>
              </a:spcBef>
              <a:spcAft>
                <a:spcPts val="0"/>
              </a:spcAft>
              <a:buSzPts val="1800"/>
              <a:buFont typeface="Nunito"/>
              <a:buChar char="●"/>
            </a:pPr>
            <a:r>
              <a:rPr lang="en" sz="1800">
                <a:latin typeface="Nunito"/>
                <a:ea typeface="Nunito"/>
                <a:cs typeface="Nunito"/>
                <a:sym typeface="Nunito"/>
              </a:rPr>
              <a:t>Dataset was downloaded and imported into workspace - notebook. </a:t>
            </a:r>
            <a:endParaRPr sz="1800">
              <a:latin typeface="Nunito"/>
              <a:ea typeface="Nunito"/>
              <a:cs typeface="Nunito"/>
              <a:sym typeface="Nunito"/>
            </a:endParaRPr>
          </a:p>
          <a:p>
            <a:pPr indent="-342900" lvl="0" marL="457200" rtl="0" algn="l">
              <a:spcBef>
                <a:spcPts val="0"/>
              </a:spcBef>
              <a:spcAft>
                <a:spcPts val="0"/>
              </a:spcAft>
              <a:buSzPts val="1800"/>
              <a:buFont typeface="Nunito"/>
              <a:buChar char="●"/>
            </a:pPr>
            <a:r>
              <a:rPr lang="en" sz="1800">
                <a:latin typeface="Nunito"/>
                <a:ea typeface="Nunito"/>
                <a:cs typeface="Nunito"/>
                <a:sym typeface="Nunito"/>
              </a:rPr>
              <a:t>The dataset contains variables of key interest and has a useability score of 10 on Kaggle.</a:t>
            </a:r>
            <a:endParaRPr sz="1800">
              <a:latin typeface="Nunito"/>
              <a:ea typeface="Nunito"/>
              <a:cs typeface="Nunito"/>
              <a:sym typeface="Nunito"/>
            </a:endParaRPr>
          </a:p>
          <a:p>
            <a:pPr indent="-342900" lvl="0" marL="457200" rtl="0" algn="l">
              <a:spcBef>
                <a:spcPts val="0"/>
              </a:spcBef>
              <a:spcAft>
                <a:spcPts val="0"/>
              </a:spcAft>
              <a:buSzPts val="1800"/>
              <a:buFont typeface="Nunito"/>
              <a:buChar char="●"/>
            </a:pPr>
            <a:r>
              <a:rPr lang="en" sz="1800">
                <a:latin typeface="Nunito"/>
                <a:ea typeface="Nunito"/>
                <a:cs typeface="Nunito"/>
                <a:sym typeface="Nunito"/>
              </a:rPr>
              <a:t>Data has CC0 license Public domain.</a:t>
            </a:r>
            <a:endParaRPr sz="1800">
              <a:latin typeface="Nunito"/>
              <a:ea typeface="Nunito"/>
              <a:cs typeface="Nunito"/>
              <a:sym typeface="Nunito"/>
            </a:endParaRPr>
          </a:p>
          <a:p>
            <a:pPr indent="0" lvl="0" marL="0" rtl="0" algn="l">
              <a:spcBef>
                <a:spcPts val="1200"/>
              </a:spcBef>
              <a:spcAft>
                <a:spcPts val="0"/>
              </a:spcAft>
              <a:buNone/>
            </a:pPr>
            <a:r>
              <a:t/>
            </a:r>
            <a:endParaRPr i="1" sz="1400">
              <a:latin typeface="Nunito"/>
              <a:ea typeface="Nunito"/>
              <a:cs typeface="Nunito"/>
              <a:sym typeface="Nunito"/>
            </a:endParaRPr>
          </a:p>
          <a:p>
            <a:pPr indent="0" lvl="0" marL="457200" rtl="0" algn="l">
              <a:spcBef>
                <a:spcPts val="1200"/>
              </a:spcBef>
              <a:spcAft>
                <a:spcPts val="0"/>
              </a:spcAft>
              <a:buNone/>
            </a:pPr>
            <a:r>
              <a:t/>
            </a:r>
            <a:endParaRPr sz="1800">
              <a:latin typeface="Nunito"/>
              <a:ea typeface="Nunito"/>
              <a:cs typeface="Nunito"/>
              <a:sym typeface="Nunito"/>
            </a:endParaRPr>
          </a:p>
          <a:p>
            <a:pPr indent="0" lvl="0" marL="457200" rtl="0" algn="l">
              <a:spcBef>
                <a:spcPts val="1200"/>
              </a:spcBef>
              <a:spcAft>
                <a:spcPts val="0"/>
              </a:spcAft>
              <a:buNone/>
            </a:pPr>
            <a:r>
              <a:t/>
            </a:r>
            <a:endParaRPr sz="1800"/>
          </a:p>
          <a:p>
            <a:pPr indent="0" lvl="0" marL="457200" rtl="0" algn="l">
              <a:spcBef>
                <a:spcPts val="1200"/>
              </a:spcBef>
              <a:spcAft>
                <a:spcPts val="1200"/>
              </a:spcAft>
              <a:buNone/>
            </a:pPr>
            <a:r>
              <a:t/>
            </a:r>
            <a:endParaRPr sz="1800"/>
          </a:p>
        </p:txBody>
      </p:sp>
      <p:pic>
        <p:nvPicPr>
          <p:cNvPr descr="File:Kaggle Logo.svg - Wikimedia Commons" id="169" name="Google Shape;169;p17"/>
          <p:cNvPicPr preferRelativeResize="0"/>
          <p:nvPr/>
        </p:nvPicPr>
        <p:blipFill>
          <a:blip r:embed="rId3">
            <a:alphaModFix/>
          </a:blip>
          <a:stretch>
            <a:fillRect/>
          </a:stretch>
        </p:blipFill>
        <p:spPr>
          <a:xfrm>
            <a:off x="5812750" y="428350"/>
            <a:ext cx="2912300" cy="1129424"/>
          </a:xfrm>
          <a:prstGeom prst="rect">
            <a:avLst/>
          </a:prstGeom>
          <a:noFill/>
          <a:ln>
            <a:noFill/>
          </a:ln>
        </p:spPr>
      </p:pic>
      <p:sp>
        <p:nvSpPr>
          <p:cNvPr id="170" name="Google Shape;170;p17"/>
          <p:cNvSpPr txBox="1"/>
          <p:nvPr/>
        </p:nvSpPr>
        <p:spPr>
          <a:xfrm>
            <a:off x="613900" y="4197275"/>
            <a:ext cx="7843800" cy="39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2"/>
                </a:solidFill>
                <a:latin typeface="Nunito"/>
                <a:ea typeface="Nunito"/>
                <a:cs typeface="Nunito"/>
                <a:sym typeface="Nunito"/>
              </a:rPr>
              <a:t>Link: https://www.kaggle.com/datasets/kashishparmar02/social-media-sentiments-analysis-dataset.</a:t>
            </a:r>
            <a:endParaRPr sz="1300">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8"/>
          <p:cNvSpPr txBox="1"/>
          <p:nvPr>
            <p:ph type="title"/>
          </p:nvPr>
        </p:nvSpPr>
        <p:spPr>
          <a:xfrm>
            <a:off x="819150" y="656050"/>
            <a:ext cx="7505700" cy="56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Cleaning &amp; Preparation</a:t>
            </a:r>
            <a:endParaRPr/>
          </a:p>
        </p:txBody>
      </p:sp>
      <p:sp>
        <p:nvSpPr>
          <p:cNvPr id="176" name="Google Shape;176;p18"/>
          <p:cNvSpPr txBox="1"/>
          <p:nvPr>
            <p:ph idx="1" type="body"/>
          </p:nvPr>
        </p:nvSpPr>
        <p:spPr>
          <a:xfrm>
            <a:off x="794550" y="1286525"/>
            <a:ext cx="6704700" cy="2499000"/>
          </a:xfrm>
          <a:prstGeom prst="rect">
            <a:avLst/>
          </a:prstGeom>
        </p:spPr>
        <p:txBody>
          <a:bodyPr anchorCtr="0" anchor="t" bIns="91425" lIns="91425" spcFirstLastPara="1" rIns="91425" wrap="square" tIns="91425">
            <a:noAutofit/>
          </a:bodyPr>
          <a:lstStyle/>
          <a:p>
            <a:pPr indent="0" lvl="0" marL="457200" rtl="0" algn="l">
              <a:lnSpc>
                <a:spcPct val="75000"/>
              </a:lnSpc>
              <a:spcBef>
                <a:spcPts val="1200"/>
              </a:spcBef>
              <a:spcAft>
                <a:spcPts val="0"/>
              </a:spcAft>
              <a:buSzPts val="852"/>
              <a:buNone/>
            </a:pPr>
            <a:r>
              <a:t/>
            </a:r>
            <a:endParaRPr sz="1800">
              <a:latin typeface="Nunito"/>
              <a:ea typeface="Nunito"/>
              <a:cs typeface="Nunito"/>
              <a:sym typeface="Nunito"/>
            </a:endParaRPr>
          </a:p>
          <a:p>
            <a:pPr indent="-342900" lvl="0" marL="457200" rtl="0" algn="l">
              <a:lnSpc>
                <a:spcPct val="115000"/>
              </a:lnSpc>
              <a:spcBef>
                <a:spcPts val="1200"/>
              </a:spcBef>
              <a:spcAft>
                <a:spcPts val="0"/>
              </a:spcAft>
              <a:buSzPts val="1800"/>
              <a:buFont typeface="Nunito"/>
              <a:buChar char="●"/>
            </a:pPr>
            <a:r>
              <a:rPr lang="en" sz="1800">
                <a:latin typeface="Nunito"/>
                <a:ea typeface="Nunito"/>
                <a:cs typeface="Nunito"/>
                <a:sym typeface="Nunito"/>
              </a:rPr>
              <a:t>Missing/NaNs removed.</a:t>
            </a:r>
            <a:endParaRPr sz="1800">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n" sz="1800">
                <a:latin typeface="Nunito"/>
                <a:ea typeface="Nunito"/>
                <a:cs typeface="Nunito"/>
                <a:sym typeface="Nunito"/>
              </a:rPr>
              <a:t>Filtering to include only variables of interest. </a:t>
            </a:r>
            <a:endParaRPr sz="1800">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n" sz="1800">
                <a:latin typeface="Nunito"/>
                <a:ea typeface="Nunito"/>
                <a:cs typeface="Nunito"/>
                <a:sym typeface="Nunito"/>
              </a:rPr>
              <a:t>Sentiment</a:t>
            </a:r>
            <a:r>
              <a:rPr lang="en" sz="1800">
                <a:latin typeface="Nunito"/>
                <a:ea typeface="Nunito"/>
                <a:cs typeface="Nunito"/>
                <a:sym typeface="Nunito"/>
              </a:rPr>
              <a:t> categories cleaned and standardized.</a:t>
            </a:r>
            <a:endParaRPr sz="1800">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n" sz="1800">
                <a:latin typeface="Nunito"/>
                <a:ea typeface="Nunito"/>
                <a:cs typeface="Nunito"/>
                <a:sym typeface="Nunito"/>
              </a:rPr>
              <a:t>Sentiment labels mapped/grouped for modeling.</a:t>
            </a:r>
            <a:endParaRPr sz="1800">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n" sz="1800">
                <a:latin typeface="Nunito"/>
                <a:ea typeface="Nunito"/>
                <a:cs typeface="Nunito"/>
                <a:sym typeface="Nunito"/>
              </a:rPr>
              <a:t>Created engagement score (likes + retweets).</a:t>
            </a:r>
            <a:endParaRPr sz="1800">
              <a:latin typeface="Nunito"/>
              <a:ea typeface="Nunito"/>
              <a:cs typeface="Nunito"/>
              <a:sym typeface="Nunito"/>
            </a:endParaRPr>
          </a:p>
          <a:p>
            <a:pPr indent="-342900" lvl="0" marL="457200" rtl="0" algn="l">
              <a:lnSpc>
                <a:spcPct val="115000"/>
              </a:lnSpc>
              <a:spcBef>
                <a:spcPts val="0"/>
              </a:spcBef>
              <a:spcAft>
                <a:spcPts val="0"/>
              </a:spcAft>
              <a:buSzPts val="1800"/>
              <a:buFont typeface="Nunito"/>
              <a:buChar char="●"/>
            </a:pPr>
            <a:r>
              <a:rPr lang="en" sz="1800">
                <a:latin typeface="Nunito"/>
                <a:ea typeface="Nunito"/>
                <a:cs typeface="Nunito"/>
                <a:sym typeface="Nunito"/>
              </a:rPr>
              <a:t>Data Split into training/validation/testing. </a:t>
            </a:r>
            <a:endParaRPr sz="1800">
              <a:latin typeface="Nunito"/>
              <a:ea typeface="Nunito"/>
              <a:cs typeface="Nunito"/>
              <a:sym typeface="Nunito"/>
            </a:endParaRPr>
          </a:p>
          <a:p>
            <a:pPr indent="0" lvl="0" marL="0" rtl="0" algn="l">
              <a:lnSpc>
                <a:spcPct val="75000"/>
              </a:lnSpc>
              <a:spcBef>
                <a:spcPts val="1200"/>
              </a:spcBef>
              <a:spcAft>
                <a:spcPts val="0"/>
              </a:spcAft>
              <a:buSzPts val="533"/>
              <a:buNone/>
            </a:pPr>
            <a:r>
              <a:t/>
            </a:r>
            <a:endParaRPr sz="1800">
              <a:latin typeface="Nunito"/>
              <a:ea typeface="Nunito"/>
              <a:cs typeface="Nunito"/>
              <a:sym typeface="Nunito"/>
            </a:endParaRPr>
          </a:p>
          <a:p>
            <a:pPr indent="0" lvl="0" marL="457200" rtl="0" algn="l">
              <a:lnSpc>
                <a:spcPct val="75000"/>
              </a:lnSpc>
              <a:spcBef>
                <a:spcPts val="1200"/>
              </a:spcBef>
              <a:spcAft>
                <a:spcPts val="0"/>
              </a:spcAft>
              <a:buSzPts val="533"/>
              <a:buNone/>
            </a:pPr>
            <a:r>
              <a:t/>
            </a:r>
            <a:endParaRPr sz="1800">
              <a:latin typeface="Nunito"/>
              <a:ea typeface="Nunito"/>
              <a:cs typeface="Nunito"/>
              <a:sym typeface="Nunito"/>
            </a:endParaRPr>
          </a:p>
          <a:p>
            <a:pPr indent="0" lvl="0" marL="457200" rtl="0" algn="l">
              <a:lnSpc>
                <a:spcPct val="75000"/>
              </a:lnSpc>
              <a:spcBef>
                <a:spcPts val="1200"/>
              </a:spcBef>
              <a:spcAft>
                <a:spcPts val="0"/>
              </a:spcAft>
              <a:buSzPts val="533"/>
              <a:buNone/>
            </a:pPr>
            <a:r>
              <a:t/>
            </a:r>
            <a:endParaRPr sz="1800"/>
          </a:p>
          <a:p>
            <a:pPr indent="0" lvl="0" marL="457200" rtl="0" algn="l">
              <a:lnSpc>
                <a:spcPct val="75000"/>
              </a:lnSpc>
              <a:spcBef>
                <a:spcPts val="1200"/>
              </a:spcBef>
              <a:spcAft>
                <a:spcPts val="1200"/>
              </a:spcAft>
              <a:buSzPts val="533"/>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ph type="title"/>
          </p:nvPr>
        </p:nvSpPr>
        <p:spPr>
          <a:xfrm>
            <a:off x="819150" y="5224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Analysis</a:t>
            </a:r>
            <a:endParaRPr/>
          </a:p>
        </p:txBody>
      </p:sp>
      <p:sp>
        <p:nvSpPr>
          <p:cNvPr id="182" name="Google Shape;182;p19"/>
          <p:cNvSpPr txBox="1"/>
          <p:nvPr/>
        </p:nvSpPr>
        <p:spPr>
          <a:xfrm>
            <a:off x="819150" y="1211825"/>
            <a:ext cx="7300200" cy="42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50">
                <a:latin typeface="Nunito"/>
                <a:ea typeface="Nunito"/>
                <a:cs typeface="Nunito"/>
                <a:sym typeface="Nunito"/>
              </a:rPr>
              <a:t>In this project, we worked with </a:t>
            </a:r>
            <a:r>
              <a:rPr b="1" lang="en" sz="1550">
                <a:latin typeface="Nunito"/>
                <a:ea typeface="Nunito"/>
                <a:cs typeface="Nunito"/>
                <a:sym typeface="Nunito"/>
              </a:rPr>
              <a:t>two types of problems</a:t>
            </a:r>
            <a:r>
              <a:rPr lang="en" sz="1550">
                <a:latin typeface="Nunito"/>
                <a:ea typeface="Nunito"/>
                <a:cs typeface="Nunito"/>
                <a:sym typeface="Nunito"/>
              </a:rPr>
              <a:t>:</a:t>
            </a:r>
            <a:endParaRPr sz="1550">
              <a:latin typeface="Nunito"/>
              <a:ea typeface="Nunito"/>
              <a:cs typeface="Nunito"/>
              <a:sym typeface="Nunito"/>
            </a:endParaRPr>
          </a:p>
          <a:p>
            <a:pPr indent="0" lvl="0" marL="0" rtl="0" algn="l">
              <a:spcBef>
                <a:spcPts val="0"/>
              </a:spcBef>
              <a:spcAft>
                <a:spcPts val="0"/>
              </a:spcAft>
              <a:buNone/>
            </a:pPr>
            <a:r>
              <a:t/>
            </a:r>
            <a:endParaRPr sz="1550">
              <a:latin typeface="Nunito"/>
              <a:ea typeface="Nunito"/>
              <a:cs typeface="Nunito"/>
              <a:sym typeface="Nunito"/>
            </a:endParaRPr>
          </a:p>
          <a:p>
            <a:pPr indent="0" lvl="0" marL="0" rtl="0" algn="l">
              <a:lnSpc>
                <a:spcPct val="115000"/>
              </a:lnSpc>
              <a:spcBef>
                <a:spcPts val="0"/>
              </a:spcBef>
              <a:spcAft>
                <a:spcPts val="0"/>
              </a:spcAft>
              <a:buNone/>
            </a:pPr>
            <a:r>
              <a:rPr b="1" lang="en" sz="1550">
                <a:latin typeface="Nunito"/>
                <a:ea typeface="Nunito"/>
                <a:cs typeface="Nunito"/>
                <a:sym typeface="Nunito"/>
              </a:rPr>
              <a:t>1. Sentiment Classification (Supervised Learning)</a:t>
            </a:r>
            <a:endParaRPr b="1" sz="1550">
              <a:latin typeface="Nunito"/>
              <a:ea typeface="Nunito"/>
              <a:cs typeface="Nunito"/>
              <a:sym typeface="Nunito"/>
            </a:endParaRPr>
          </a:p>
          <a:p>
            <a:pPr indent="-327025" lvl="0" marL="457200" rtl="0" algn="l">
              <a:lnSpc>
                <a:spcPct val="115000"/>
              </a:lnSpc>
              <a:spcBef>
                <a:spcPts val="1200"/>
              </a:spcBef>
              <a:spcAft>
                <a:spcPts val="0"/>
              </a:spcAft>
              <a:buSzPts val="1550"/>
              <a:buChar char="●"/>
            </a:pPr>
            <a:r>
              <a:rPr lang="en" sz="1550">
                <a:latin typeface="Nunito"/>
                <a:ea typeface="Nunito"/>
                <a:cs typeface="Nunito"/>
                <a:sym typeface="Nunito"/>
              </a:rPr>
              <a:t>Goal: Predict if a post is Positive, Neutral, or Negative</a:t>
            </a:r>
            <a:endParaRPr sz="1550">
              <a:latin typeface="Nunito"/>
              <a:ea typeface="Nunito"/>
              <a:cs typeface="Nunito"/>
              <a:sym typeface="Nunito"/>
            </a:endParaRPr>
          </a:p>
          <a:p>
            <a:pPr indent="-327025" lvl="0" marL="457200" rtl="0" algn="l">
              <a:lnSpc>
                <a:spcPct val="115000"/>
              </a:lnSpc>
              <a:spcBef>
                <a:spcPts val="0"/>
              </a:spcBef>
              <a:spcAft>
                <a:spcPts val="0"/>
              </a:spcAft>
              <a:buSzPts val="1550"/>
              <a:buChar char="●"/>
            </a:pPr>
            <a:r>
              <a:rPr lang="en" sz="1550">
                <a:latin typeface="Nunito"/>
                <a:ea typeface="Nunito"/>
                <a:cs typeface="Nunito"/>
                <a:sym typeface="Nunito"/>
              </a:rPr>
              <a:t>This is a multi-class classification problem</a:t>
            </a:r>
            <a:endParaRPr sz="1550">
              <a:latin typeface="Nunito"/>
              <a:ea typeface="Nunito"/>
              <a:cs typeface="Nunito"/>
              <a:sym typeface="Nunito"/>
            </a:endParaRPr>
          </a:p>
          <a:p>
            <a:pPr indent="-327025" lvl="0" marL="457200" rtl="0" algn="l">
              <a:lnSpc>
                <a:spcPct val="115000"/>
              </a:lnSpc>
              <a:spcBef>
                <a:spcPts val="0"/>
              </a:spcBef>
              <a:spcAft>
                <a:spcPts val="0"/>
              </a:spcAft>
              <a:buSzPts val="1550"/>
              <a:buFont typeface="Nunito"/>
              <a:buChar char="●"/>
            </a:pPr>
            <a:r>
              <a:rPr lang="en" sz="1550">
                <a:latin typeface="Nunito"/>
                <a:ea typeface="Nunito"/>
                <a:cs typeface="Nunito"/>
                <a:sym typeface="Nunito"/>
              </a:rPr>
              <a:t>We trained a machine learning model using labeled examples</a:t>
            </a:r>
            <a:endParaRPr sz="1550">
              <a:latin typeface="Nunito"/>
              <a:ea typeface="Nunito"/>
              <a:cs typeface="Nunito"/>
              <a:sym typeface="Nunito"/>
            </a:endParaRPr>
          </a:p>
          <a:p>
            <a:pPr indent="0" lvl="0" marL="0" rtl="0" algn="l">
              <a:lnSpc>
                <a:spcPct val="115000"/>
              </a:lnSpc>
              <a:spcBef>
                <a:spcPts val="1200"/>
              </a:spcBef>
              <a:spcAft>
                <a:spcPts val="0"/>
              </a:spcAft>
              <a:buNone/>
            </a:pPr>
            <a:r>
              <a:rPr b="1" lang="en" sz="1550">
                <a:latin typeface="Nunito"/>
                <a:ea typeface="Nunito"/>
                <a:cs typeface="Nunito"/>
                <a:sym typeface="Nunito"/>
              </a:rPr>
              <a:t>2. Engagement Modeling (Regression)</a:t>
            </a:r>
            <a:endParaRPr b="1" sz="1550">
              <a:latin typeface="Nunito"/>
              <a:ea typeface="Nunito"/>
              <a:cs typeface="Nunito"/>
              <a:sym typeface="Nunito"/>
            </a:endParaRPr>
          </a:p>
          <a:p>
            <a:pPr indent="-327025" lvl="0" marL="457200" rtl="0" algn="l">
              <a:lnSpc>
                <a:spcPct val="115000"/>
              </a:lnSpc>
              <a:spcBef>
                <a:spcPts val="1200"/>
              </a:spcBef>
              <a:spcAft>
                <a:spcPts val="0"/>
              </a:spcAft>
              <a:buSzPts val="1550"/>
              <a:buFont typeface="Nunito"/>
              <a:buChar char="●"/>
            </a:pPr>
            <a:r>
              <a:rPr lang="en" sz="1550">
                <a:latin typeface="Nunito"/>
                <a:ea typeface="Nunito"/>
                <a:cs typeface="Nunito"/>
                <a:sym typeface="Nunito"/>
              </a:rPr>
              <a:t>Goal: Determine whether the sentiment of a post helps explain or predict the amount of engagement it receives (likes + retweets).</a:t>
            </a:r>
            <a:endParaRPr sz="1550">
              <a:latin typeface="Nunito"/>
              <a:ea typeface="Nunito"/>
              <a:cs typeface="Nunito"/>
              <a:sym typeface="Nunito"/>
            </a:endParaRPr>
          </a:p>
          <a:p>
            <a:pPr indent="-327025" lvl="0" marL="457200" rtl="0" algn="l">
              <a:lnSpc>
                <a:spcPct val="115000"/>
              </a:lnSpc>
              <a:spcBef>
                <a:spcPts val="0"/>
              </a:spcBef>
              <a:spcAft>
                <a:spcPts val="0"/>
              </a:spcAft>
              <a:buSzPts val="1550"/>
              <a:buFont typeface="Nunito"/>
              <a:buChar char="●"/>
            </a:pPr>
            <a:r>
              <a:rPr lang="en" sz="1550">
                <a:latin typeface="Nunito"/>
                <a:ea typeface="Nunito"/>
                <a:cs typeface="Nunito"/>
                <a:sym typeface="Nunito"/>
              </a:rPr>
              <a:t>This is a numerical prediction problem, so we use linear regression to estimate how engagement changes based on sentiment.</a:t>
            </a:r>
            <a:endParaRPr sz="1550">
              <a:latin typeface="Nunito"/>
              <a:ea typeface="Nunito"/>
              <a:cs typeface="Nunito"/>
              <a:sym typeface="Nunito"/>
            </a:endParaRPr>
          </a:p>
          <a:p>
            <a:pPr indent="0" lvl="0" marL="0" rtl="0" algn="l">
              <a:spcBef>
                <a:spcPts val="1200"/>
              </a:spcBef>
              <a:spcAft>
                <a:spcPts val="0"/>
              </a:spcAft>
              <a:buNone/>
            </a:pPr>
            <a:r>
              <a:t/>
            </a:r>
            <a:endParaRPr sz="1550">
              <a:latin typeface="Nunito"/>
              <a:ea typeface="Nunito"/>
              <a:cs typeface="Nunito"/>
              <a:sym typeface="Nunito"/>
            </a:endParaRPr>
          </a:p>
          <a:p>
            <a:pPr indent="0" lvl="0" marL="0" rtl="0" algn="l">
              <a:spcBef>
                <a:spcPts val="0"/>
              </a:spcBef>
              <a:spcAft>
                <a:spcPts val="0"/>
              </a:spcAft>
              <a:buNone/>
            </a:pPr>
            <a:r>
              <a:t/>
            </a:r>
            <a:endParaRPr sz="1550">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type="title"/>
          </p:nvPr>
        </p:nvSpPr>
        <p:spPr>
          <a:xfrm>
            <a:off x="819150" y="5224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Methods </a:t>
            </a:r>
            <a:endParaRPr/>
          </a:p>
        </p:txBody>
      </p:sp>
      <p:sp>
        <p:nvSpPr>
          <p:cNvPr id="188" name="Google Shape;188;p20"/>
          <p:cNvSpPr txBox="1"/>
          <p:nvPr/>
        </p:nvSpPr>
        <p:spPr>
          <a:xfrm>
            <a:off x="664250" y="1265675"/>
            <a:ext cx="7715400" cy="333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650">
                <a:latin typeface="Nunito"/>
                <a:ea typeface="Nunito"/>
                <a:cs typeface="Nunito"/>
                <a:sym typeface="Nunito"/>
              </a:rPr>
              <a:t>Our methodology included three major components:</a:t>
            </a:r>
            <a:endParaRPr sz="1650">
              <a:latin typeface="Nunito"/>
              <a:ea typeface="Nunito"/>
              <a:cs typeface="Nunito"/>
              <a:sym typeface="Nunito"/>
            </a:endParaRPr>
          </a:p>
          <a:p>
            <a:pPr indent="-333375" lvl="0" marL="457200" rtl="0" algn="l">
              <a:lnSpc>
                <a:spcPct val="115000"/>
              </a:lnSpc>
              <a:spcBef>
                <a:spcPts val="1200"/>
              </a:spcBef>
              <a:spcAft>
                <a:spcPts val="0"/>
              </a:spcAft>
              <a:buSzPts val="1650"/>
              <a:buFont typeface="Nunito"/>
              <a:buAutoNum type="arabicPeriod"/>
            </a:pPr>
            <a:r>
              <a:rPr b="1" lang="en" sz="1650">
                <a:latin typeface="Nunito"/>
                <a:ea typeface="Nunito"/>
                <a:cs typeface="Nunito"/>
                <a:sym typeface="Nunito"/>
              </a:rPr>
              <a:t>Data Preparation</a:t>
            </a:r>
            <a:br>
              <a:rPr b="1" lang="en" sz="1650">
                <a:latin typeface="Nunito"/>
                <a:ea typeface="Nunito"/>
                <a:cs typeface="Nunito"/>
                <a:sym typeface="Nunito"/>
              </a:rPr>
            </a:br>
            <a:endParaRPr b="1" sz="1650">
              <a:latin typeface="Nunito"/>
              <a:ea typeface="Nunito"/>
              <a:cs typeface="Nunito"/>
              <a:sym typeface="Nunito"/>
            </a:endParaRPr>
          </a:p>
          <a:p>
            <a:pPr indent="-333375" lvl="0" marL="457200" rtl="0" algn="l">
              <a:lnSpc>
                <a:spcPct val="115000"/>
              </a:lnSpc>
              <a:spcBef>
                <a:spcPts val="0"/>
              </a:spcBef>
              <a:spcAft>
                <a:spcPts val="0"/>
              </a:spcAft>
              <a:buSzPts val="1650"/>
              <a:buFont typeface="Nunito"/>
              <a:buAutoNum type="arabicPeriod"/>
            </a:pPr>
            <a:r>
              <a:rPr b="1" lang="en" sz="1650">
                <a:latin typeface="Nunito"/>
                <a:ea typeface="Nunito"/>
                <a:cs typeface="Nunito"/>
                <a:sym typeface="Nunito"/>
              </a:rPr>
              <a:t>Sentiment Classification Model</a:t>
            </a:r>
            <a:br>
              <a:rPr b="1" lang="en" sz="1650">
                <a:latin typeface="Nunito"/>
                <a:ea typeface="Nunito"/>
                <a:cs typeface="Nunito"/>
                <a:sym typeface="Nunito"/>
              </a:rPr>
            </a:br>
            <a:endParaRPr b="1" sz="1650">
              <a:latin typeface="Nunito"/>
              <a:ea typeface="Nunito"/>
              <a:cs typeface="Nunito"/>
              <a:sym typeface="Nunito"/>
            </a:endParaRPr>
          </a:p>
          <a:p>
            <a:pPr indent="-333375" lvl="0" marL="457200" rtl="0" algn="l">
              <a:lnSpc>
                <a:spcPct val="115000"/>
              </a:lnSpc>
              <a:spcBef>
                <a:spcPts val="0"/>
              </a:spcBef>
              <a:spcAft>
                <a:spcPts val="0"/>
              </a:spcAft>
              <a:buSzPts val="1650"/>
              <a:buFont typeface="Nunito"/>
              <a:buAutoNum type="arabicPeriod"/>
            </a:pPr>
            <a:r>
              <a:rPr b="1" lang="en" sz="1650">
                <a:latin typeface="Nunito"/>
                <a:ea typeface="Nunito"/>
                <a:cs typeface="Nunito"/>
                <a:sym typeface="Nunito"/>
              </a:rPr>
              <a:t>Statistical Analysis</a:t>
            </a:r>
            <a:endParaRPr b="1" sz="1650">
              <a:latin typeface="Nunito"/>
              <a:ea typeface="Nunito"/>
              <a:cs typeface="Nunito"/>
              <a:sym typeface="Nunito"/>
            </a:endParaRPr>
          </a:p>
          <a:p>
            <a:pPr indent="0" lvl="0" marL="0" rtl="0" algn="l">
              <a:lnSpc>
                <a:spcPct val="115000"/>
              </a:lnSpc>
              <a:spcBef>
                <a:spcPts val="1200"/>
              </a:spcBef>
              <a:spcAft>
                <a:spcPts val="1200"/>
              </a:spcAft>
              <a:buNone/>
            </a:pPr>
            <a:r>
              <a:rPr lang="en" sz="1650">
                <a:latin typeface="Nunito"/>
                <a:ea typeface="Nunito"/>
                <a:cs typeface="Nunito"/>
                <a:sym typeface="Nunito"/>
              </a:rPr>
              <a:t>This structure allowed us to build a clean dataset, train a reliable model, and evaluate whether sentiment plays a measurable role in engagement patterns.</a:t>
            </a:r>
            <a:endParaRPr sz="1650">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1"/>
          <p:cNvSpPr txBox="1"/>
          <p:nvPr>
            <p:ph type="title"/>
          </p:nvPr>
        </p:nvSpPr>
        <p:spPr>
          <a:xfrm>
            <a:off x="2011650" y="519350"/>
            <a:ext cx="5120700" cy="72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500"/>
              <a:t>Exploratory Data Analysis</a:t>
            </a:r>
            <a:endParaRPr sz="2500"/>
          </a:p>
        </p:txBody>
      </p:sp>
      <p:sp>
        <p:nvSpPr>
          <p:cNvPr id="194" name="Google Shape;194;p21"/>
          <p:cNvSpPr txBox="1"/>
          <p:nvPr/>
        </p:nvSpPr>
        <p:spPr>
          <a:xfrm>
            <a:off x="478200" y="1185275"/>
            <a:ext cx="8187600" cy="362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50">
                <a:latin typeface="Nunito"/>
                <a:ea typeface="Nunito"/>
                <a:cs typeface="Nunito"/>
                <a:sym typeface="Nunito"/>
              </a:rPr>
              <a:t>Before running the regression, we created visualizations to understand early patterns in the data.</a:t>
            </a:r>
            <a:br>
              <a:rPr lang="en" sz="1550">
                <a:latin typeface="Nunito"/>
                <a:ea typeface="Nunito"/>
                <a:cs typeface="Nunito"/>
                <a:sym typeface="Nunito"/>
              </a:rPr>
            </a:br>
            <a:r>
              <a:rPr lang="en" sz="1550">
                <a:latin typeface="Nunito"/>
                <a:ea typeface="Nunito"/>
                <a:cs typeface="Nunito"/>
                <a:sym typeface="Nunito"/>
              </a:rPr>
              <a:t> Our EDA focused on:</a:t>
            </a:r>
            <a:endParaRPr sz="1550">
              <a:latin typeface="Nunito"/>
              <a:ea typeface="Nunito"/>
              <a:cs typeface="Nunito"/>
              <a:sym typeface="Nunito"/>
            </a:endParaRPr>
          </a:p>
          <a:p>
            <a:pPr indent="-327025" lvl="0" marL="457200" rtl="0" algn="l">
              <a:lnSpc>
                <a:spcPct val="115000"/>
              </a:lnSpc>
              <a:spcBef>
                <a:spcPts val="1200"/>
              </a:spcBef>
              <a:spcAft>
                <a:spcPts val="0"/>
              </a:spcAft>
              <a:buSzPts val="1550"/>
              <a:buAutoNum type="arabicPeriod"/>
            </a:pPr>
            <a:r>
              <a:rPr b="1" lang="en" sz="1550">
                <a:latin typeface="Nunito"/>
                <a:ea typeface="Nunito"/>
                <a:cs typeface="Nunito"/>
                <a:sym typeface="Nunito"/>
              </a:rPr>
              <a:t>Distribution of predicted sentiment categories</a:t>
            </a:r>
            <a:br>
              <a:rPr b="1" lang="en" sz="1550">
                <a:latin typeface="Nunito"/>
                <a:ea typeface="Nunito"/>
                <a:cs typeface="Nunito"/>
                <a:sym typeface="Nunito"/>
              </a:rPr>
            </a:br>
            <a:r>
              <a:rPr lang="en" sz="1550">
                <a:latin typeface="Nunito"/>
                <a:ea typeface="Nunito"/>
                <a:cs typeface="Nunito"/>
                <a:sym typeface="Nunito"/>
              </a:rPr>
              <a:t> to see how many posts were classified as Positive, Neutral, or Negative.</a:t>
            </a:r>
            <a:endParaRPr sz="1550">
              <a:latin typeface="Nunito"/>
              <a:ea typeface="Nunito"/>
              <a:cs typeface="Nunito"/>
              <a:sym typeface="Nunito"/>
            </a:endParaRPr>
          </a:p>
          <a:p>
            <a:pPr indent="-327025" lvl="0" marL="457200" rtl="0" algn="l">
              <a:lnSpc>
                <a:spcPct val="115000"/>
              </a:lnSpc>
              <a:spcBef>
                <a:spcPts val="0"/>
              </a:spcBef>
              <a:spcAft>
                <a:spcPts val="0"/>
              </a:spcAft>
              <a:buSzPts val="1550"/>
              <a:buAutoNum type="arabicPeriod"/>
            </a:pPr>
            <a:r>
              <a:rPr b="1" lang="en" sz="1550">
                <a:latin typeface="Nunito"/>
                <a:ea typeface="Nunito"/>
                <a:cs typeface="Nunito"/>
                <a:sym typeface="Nunito"/>
              </a:rPr>
              <a:t>Average engagement across sentiment groups</a:t>
            </a:r>
            <a:br>
              <a:rPr b="1" lang="en" sz="1550">
                <a:latin typeface="Nunito"/>
                <a:ea typeface="Nunito"/>
                <a:cs typeface="Nunito"/>
                <a:sym typeface="Nunito"/>
              </a:rPr>
            </a:br>
            <a:r>
              <a:rPr lang="en" sz="1550">
                <a:latin typeface="Nunito"/>
                <a:ea typeface="Nunito"/>
                <a:cs typeface="Nunito"/>
                <a:sym typeface="Nunito"/>
              </a:rPr>
              <a:t> to observe whether certain sentiments tended to receive more interactions.</a:t>
            </a:r>
            <a:endParaRPr sz="1550">
              <a:latin typeface="Nunito"/>
              <a:ea typeface="Nunito"/>
              <a:cs typeface="Nunito"/>
              <a:sym typeface="Nunito"/>
            </a:endParaRPr>
          </a:p>
          <a:p>
            <a:pPr indent="-327025" lvl="0" marL="457200" rtl="0" algn="l">
              <a:lnSpc>
                <a:spcPct val="115000"/>
              </a:lnSpc>
              <a:spcBef>
                <a:spcPts val="0"/>
              </a:spcBef>
              <a:spcAft>
                <a:spcPts val="0"/>
              </a:spcAft>
              <a:buSzPts val="1550"/>
              <a:buAutoNum type="arabicPeriod"/>
            </a:pPr>
            <a:r>
              <a:rPr b="1" lang="en" sz="1550">
                <a:latin typeface="Nunito"/>
                <a:ea typeface="Nunito"/>
                <a:cs typeface="Nunito"/>
                <a:sym typeface="Nunito"/>
              </a:rPr>
              <a:t>Engagement density curves</a:t>
            </a:r>
            <a:br>
              <a:rPr b="1" lang="en" sz="1550">
                <a:latin typeface="Nunito"/>
                <a:ea typeface="Nunito"/>
                <a:cs typeface="Nunito"/>
                <a:sym typeface="Nunito"/>
              </a:rPr>
            </a:br>
            <a:r>
              <a:rPr lang="en" sz="1550">
                <a:latin typeface="Nunito"/>
                <a:ea typeface="Nunito"/>
                <a:cs typeface="Nunito"/>
                <a:sym typeface="Nunito"/>
              </a:rPr>
              <a:t> to examine how engagement values were distributed within each sentiment group and identify where engagement tended to cluster.</a:t>
            </a:r>
            <a:endParaRPr sz="1550">
              <a:latin typeface="Nunito"/>
              <a:ea typeface="Nunito"/>
              <a:cs typeface="Nunito"/>
              <a:sym typeface="Nunito"/>
            </a:endParaRPr>
          </a:p>
          <a:p>
            <a:pPr indent="0" lvl="0" marL="0" rtl="0" algn="l">
              <a:lnSpc>
                <a:spcPct val="115000"/>
              </a:lnSpc>
              <a:spcBef>
                <a:spcPts val="1200"/>
              </a:spcBef>
              <a:spcAft>
                <a:spcPts val="0"/>
              </a:spcAft>
              <a:buNone/>
            </a:pPr>
            <a:r>
              <a:rPr lang="en" sz="1550">
                <a:latin typeface="Nunito"/>
                <a:ea typeface="Nunito"/>
                <a:cs typeface="Nunito"/>
                <a:sym typeface="Nunito"/>
              </a:rPr>
              <a:t>These visual patterns helped us identify initial trends and build intuition before statistical modeling. The insights from EDA guided our interpretation of the final regression results.</a:t>
            </a:r>
            <a:endParaRPr sz="1550">
              <a:latin typeface="Nunito"/>
              <a:ea typeface="Nunito"/>
              <a:cs typeface="Nunito"/>
              <a:sym typeface="Nunito"/>
            </a:endParaRPr>
          </a:p>
          <a:p>
            <a:pPr indent="0" lvl="0" marL="0" rtl="0" algn="l">
              <a:spcBef>
                <a:spcPts val="1200"/>
              </a:spcBef>
              <a:spcAft>
                <a:spcPts val="0"/>
              </a:spcAft>
              <a:buNone/>
            </a:pPr>
            <a:r>
              <a:t/>
            </a:r>
            <a:endParaRPr sz="1550">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22" title="Unknown-2 copy.png"/>
          <p:cNvPicPr preferRelativeResize="0"/>
          <p:nvPr/>
        </p:nvPicPr>
        <p:blipFill>
          <a:blip r:embed="rId4">
            <a:alphaModFix/>
          </a:blip>
          <a:stretch>
            <a:fillRect/>
          </a:stretch>
        </p:blipFill>
        <p:spPr>
          <a:xfrm>
            <a:off x="4875800" y="2243875"/>
            <a:ext cx="3960701" cy="2572801"/>
          </a:xfrm>
          <a:prstGeom prst="rect">
            <a:avLst/>
          </a:prstGeom>
          <a:noFill/>
          <a:ln>
            <a:noFill/>
          </a:ln>
        </p:spPr>
      </p:pic>
      <p:sp>
        <p:nvSpPr>
          <p:cNvPr id="200" name="Google Shape;200;p22"/>
          <p:cNvSpPr txBox="1"/>
          <p:nvPr/>
        </p:nvSpPr>
        <p:spPr>
          <a:xfrm>
            <a:off x="4795525" y="565600"/>
            <a:ext cx="3960600" cy="162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2"/>
                </a:solidFill>
                <a:latin typeface="Nunito"/>
                <a:ea typeface="Nunito"/>
                <a:cs typeface="Nunito"/>
                <a:sym typeface="Nunito"/>
              </a:rPr>
              <a:t>Positive posts show the highest engagement, Neutral posts fall in the middle, and Negative posts receive the least. This suggests that more positive content tends to attract more </a:t>
            </a:r>
            <a:r>
              <a:rPr lang="en" sz="1500">
                <a:solidFill>
                  <a:schemeClr val="dk2"/>
                </a:solidFill>
                <a:latin typeface="Nunito"/>
                <a:ea typeface="Nunito"/>
                <a:cs typeface="Nunito"/>
                <a:sym typeface="Nunito"/>
              </a:rPr>
              <a:t>user</a:t>
            </a:r>
            <a:r>
              <a:rPr lang="en" sz="1500">
                <a:solidFill>
                  <a:schemeClr val="dk2"/>
                </a:solidFill>
                <a:latin typeface="Nunito"/>
                <a:ea typeface="Nunito"/>
                <a:cs typeface="Nunito"/>
                <a:sym typeface="Nunito"/>
              </a:rPr>
              <a:t> interaction.</a:t>
            </a:r>
            <a:endParaRPr sz="1500">
              <a:solidFill>
                <a:schemeClr val="dk2"/>
              </a:solidFill>
              <a:latin typeface="Nunito"/>
              <a:ea typeface="Nunito"/>
              <a:cs typeface="Nunito"/>
              <a:sym typeface="Nunito"/>
            </a:endParaRPr>
          </a:p>
          <a:p>
            <a:pPr indent="0" lvl="0" marL="0" rtl="0" algn="r">
              <a:lnSpc>
                <a:spcPct val="115000"/>
              </a:lnSpc>
              <a:spcBef>
                <a:spcPts val="1200"/>
              </a:spcBef>
              <a:spcAft>
                <a:spcPts val="0"/>
              </a:spcAft>
              <a:buNone/>
            </a:pPr>
            <a:r>
              <a:t/>
            </a:r>
            <a:endParaRPr sz="1500">
              <a:solidFill>
                <a:schemeClr val="dk2"/>
              </a:solidFill>
              <a:latin typeface="Nunito"/>
              <a:ea typeface="Nunito"/>
              <a:cs typeface="Nunito"/>
              <a:sym typeface="Nunito"/>
            </a:endParaRPr>
          </a:p>
          <a:p>
            <a:pPr indent="0" lvl="0" marL="457200" rtl="0" algn="r">
              <a:spcBef>
                <a:spcPts val="1200"/>
              </a:spcBef>
              <a:spcAft>
                <a:spcPts val="0"/>
              </a:spcAft>
              <a:buNone/>
            </a:pPr>
            <a:r>
              <a:t/>
            </a:r>
            <a:endParaRPr sz="1500">
              <a:solidFill>
                <a:schemeClr val="dk2"/>
              </a:solidFill>
              <a:latin typeface="Nunito"/>
              <a:ea typeface="Nunito"/>
              <a:cs typeface="Nunito"/>
              <a:sym typeface="Nunito"/>
            </a:endParaRPr>
          </a:p>
        </p:txBody>
      </p:sp>
      <p:sp>
        <p:nvSpPr>
          <p:cNvPr id="201" name="Google Shape;201;p22"/>
          <p:cNvSpPr txBox="1"/>
          <p:nvPr/>
        </p:nvSpPr>
        <p:spPr>
          <a:xfrm>
            <a:off x="618863" y="3306800"/>
            <a:ext cx="3501600" cy="14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Nunito"/>
                <a:ea typeface="Nunito"/>
                <a:cs typeface="Nunito"/>
                <a:sym typeface="Nunito"/>
              </a:rPr>
              <a:t>Positive posts dominate the dataset, while Neutral and especially Negative posts are much fewer. This imbalance led to our use of class weights and stratified splits.</a:t>
            </a:r>
            <a:endParaRPr sz="1500">
              <a:solidFill>
                <a:schemeClr val="dk2"/>
              </a:solidFill>
              <a:latin typeface="Nunito"/>
              <a:ea typeface="Nunito"/>
              <a:cs typeface="Nunito"/>
              <a:sym typeface="Nunito"/>
            </a:endParaRPr>
          </a:p>
        </p:txBody>
      </p:sp>
      <p:pic>
        <p:nvPicPr>
          <p:cNvPr id="202" name="Google Shape;202;p22" title="Unknown-1 copy.png"/>
          <p:cNvPicPr preferRelativeResize="0"/>
          <p:nvPr/>
        </p:nvPicPr>
        <p:blipFill>
          <a:blip r:embed="rId5">
            <a:alphaModFix/>
          </a:blip>
          <a:stretch>
            <a:fillRect/>
          </a:stretch>
        </p:blipFill>
        <p:spPr>
          <a:xfrm>
            <a:off x="362825" y="565600"/>
            <a:ext cx="4395775" cy="25898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p23" title="Unknown-3.png"/>
          <p:cNvPicPr preferRelativeResize="0"/>
          <p:nvPr/>
        </p:nvPicPr>
        <p:blipFill>
          <a:blip r:embed="rId3">
            <a:alphaModFix/>
          </a:blip>
          <a:stretch>
            <a:fillRect/>
          </a:stretch>
        </p:blipFill>
        <p:spPr>
          <a:xfrm>
            <a:off x="1725850" y="521075"/>
            <a:ext cx="5692310" cy="3038500"/>
          </a:xfrm>
          <a:prstGeom prst="rect">
            <a:avLst/>
          </a:prstGeom>
          <a:noFill/>
          <a:ln>
            <a:noFill/>
          </a:ln>
        </p:spPr>
      </p:pic>
      <p:sp>
        <p:nvSpPr>
          <p:cNvPr id="208" name="Google Shape;208;p23"/>
          <p:cNvSpPr txBox="1"/>
          <p:nvPr/>
        </p:nvSpPr>
        <p:spPr>
          <a:xfrm>
            <a:off x="915700" y="3689425"/>
            <a:ext cx="7447200" cy="87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50">
                <a:solidFill>
                  <a:schemeClr val="dk2"/>
                </a:solidFill>
                <a:latin typeface="Nunito"/>
                <a:ea typeface="Nunito"/>
                <a:cs typeface="Nunito"/>
                <a:sym typeface="Nunito"/>
              </a:rPr>
              <a:t>Positive and Neutral posts cluster around higher engagement values, while Negative posts center lower. This pattern supported our expectation that sentiment might predict engagement.</a:t>
            </a:r>
            <a:endParaRPr sz="1550">
              <a:solidFill>
                <a:schemeClr val="dk2"/>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txBox="1"/>
          <p:nvPr>
            <p:ph type="title"/>
          </p:nvPr>
        </p:nvSpPr>
        <p:spPr>
          <a:xfrm>
            <a:off x="819150" y="401275"/>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Sentiment Classification Model</a:t>
            </a:r>
            <a:endParaRPr/>
          </a:p>
        </p:txBody>
      </p:sp>
      <p:sp>
        <p:nvSpPr>
          <p:cNvPr id="214" name="Google Shape;214;p24"/>
          <p:cNvSpPr txBox="1"/>
          <p:nvPr/>
        </p:nvSpPr>
        <p:spPr>
          <a:xfrm>
            <a:off x="444375" y="1742450"/>
            <a:ext cx="3904800" cy="2414100"/>
          </a:xfrm>
          <a:prstGeom prst="rect">
            <a:avLst/>
          </a:prstGeom>
          <a:noFill/>
          <a:ln>
            <a:noFill/>
          </a:ln>
        </p:spPr>
        <p:txBody>
          <a:bodyPr anchorCtr="0" anchor="t" bIns="91425" lIns="91425" spcFirstLastPara="1" rIns="91425" wrap="square" tIns="91425">
            <a:noAutofit/>
          </a:bodyPr>
          <a:lstStyle/>
          <a:p>
            <a:pPr indent="-327025" lvl="0" marL="457200" rtl="0" algn="l">
              <a:lnSpc>
                <a:spcPct val="115000"/>
              </a:lnSpc>
              <a:spcBef>
                <a:spcPts val="1200"/>
              </a:spcBef>
              <a:spcAft>
                <a:spcPts val="0"/>
              </a:spcAft>
              <a:buSzPts val="1550"/>
              <a:buFont typeface="Nunito"/>
              <a:buAutoNum type="arabicPeriod"/>
            </a:pPr>
            <a:r>
              <a:rPr lang="en" sz="1550">
                <a:latin typeface="Nunito"/>
                <a:ea typeface="Nunito"/>
                <a:cs typeface="Nunito"/>
                <a:sym typeface="Nunito"/>
              </a:rPr>
              <a:t>Tokenized each post into padded and truncated sequences</a:t>
            </a:r>
            <a:endParaRPr sz="1550">
              <a:latin typeface="Nunito"/>
              <a:ea typeface="Nunito"/>
              <a:cs typeface="Nunito"/>
              <a:sym typeface="Nunito"/>
            </a:endParaRPr>
          </a:p>
          <a:p>
            <a:pPr indent="-327025" lvl="0" marL="457200" rtl="0" algn="l">
              <a:lnSpc>
                <a:spcPct val="115000"/>
              </a:lnSpc>
              <a:spcBef>
                <a:spcPts val="0"/>
              </a:spcBef>
              <a:spcAft>
                <a:spcPts val="0"/>
              </a:spcAft>
              <a:buSzPts val="1550"/>
              <a:buFont typeface="Nunito"/>
              <a:buAutoNum type="arabicPeriod"/>
            </a:pPr>
            <a:r>
              <a:rPr lang="en" sz="1550">
                <a:latin typeface="Nunito"/>
                <a:ea typeface="Nunito"/>
                <a:cs typeface="Nunito"/>
                <a:sym typeface="Nunito"/>
              </a:rPr>
              <a:t>Added class weights to address class imbalance</a:t>
            </a:r>
            <a:endParaRPr sz="1550">
              <a:latin typeface="Nunito"/>
              <a:ea typeface="Nunito"/>
              <a:cs typeface="Nunito"/>
              <a:sym typeface="Nunito"/>
            </a:endParaRPr>
          </a:p>
          <a:p>
            <a:pPr indent="-327025" lvl="0" marL="457200" rtl="0" algn="l">
              <a:lnSpc>
                <a:spcPct val="115000"/>
              </a:lnSpc>
              <a:spcBef>
                <a:spcPts val="0"/>
              </a:spcBef>
              <a:spcAft>
                <a:spcPts val="0"/>
              </a:spcAft>
              <a:buSzPts val="1550"/>
              <a:buFont typeface="Nunito"/>
              <a:buAutoNum type="arabicPeriod"/>
            </a:pPr>
            <a:r>
              <a:rPr lang="en" sz="1550">
                <a:latin typeface="Nunito"/>
                <a:ea typeface="Nunito"/>
                <a:cs typeface="Nunito"/>
                <a:sym typeface="Nunito"/>
              </a:rPr>
              <a:t>Used a three-unit output layer to represent the three sentiment categories</a:t>
            </a:r>
            <a:endParaRPr sz="1550">
              <a:latin typeface="Nunito"/>
              <a:ea typeface="Nunito"/>
              <a:cs typeface="Nunito"/>
              <a:sym typeface="Nunito"/>
            </a:endParaRPr>
          </a:p>
        </p:txBody>
      </p:sp>
      <p:sp>
        <p:nvSpPr>
          <p:cNvPr id="215" name="Google Shape;215;p24"/>
          <p:cNvSpPr txBox="1"/>
          <p:nvPr/>
        </p:nvSpPr>
        <p:spPr>
          <a:xfrm>
            <a:off x="4572000" y="1742450"/>
            <a:ext cx="3681900" cy="24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50">
                <a:latin typeface="Nunito"/>
                <a:ea typeface="Nunito"/>
                <a:cs typeface="Nunito"/>
                <a:sym typeface="Nunito"/>
              </a:rPr>
              <a:t>4. Trained the model with:</a:t>
            </a:r>
            <a:endParaRPr sz="1550">
              <a:latin typeface="Nunito"/>
              <a:ea typeface="Nunito"/>
              <a:cs typeface="Nunito"/>
              <a:sym typeface="Nunito"/>
            </a:endParaRPr>
          </a:p>
          <a:p>
            <a:pPr indent="-327025" lvl="0" marL="457200" rtl="0" algn="l">
              <a:lnSpc>
                <a:spcPct val="115000"/>
              </a:lnSpc>
              <a:spcBef>
                <a:spcPts val="1200"/>
              </a:spcBef>
              <a:spcAft>
                <a:spcPts val="0"/>
              </a:spcAft>
              <a:buSzPts val="1550"/>
              <a:buFont typeface="Nunito"/>
              <a:buChar char="-"/>
            </a:pPr>
            <a:r>
              <a:rPr lang="en" sz="1550">
                <a:latin typeface="Nunito"/>
                <a:ea typeface="Nunito"/>
                <a:cs typeface="Nunito"/>
                <a:sym typeface="Nunito"/>
              </a:rPr>
              <a:t>Learning rate: </a:t>
            </a:r>
            <a:r>
              <a:rPr b="1" lang="en" sz="1550">
                <a:latin typeface="Nunito"/>
                <a:ea typeface="Nunito"/>
                <a:cs typeface="Nunito"/>
                <a:sym typeface="Nunito"/>
              </a:rPr>
              <a:t>2e-</a:t>
            </a:r>
            <a:r>
              <a:rPr b="1" lang="en" sz="1550">
                <a:latin typeface="Nunito"/>
                <a:ea typeface="Nunito"/>
                <a:cs typeface="Nunito"/>
                <a:sym typeface="Nunito"/>
              </a:rPr>
              <a:t>5</a:t>
            </a:r>
            <a:endParaRPr b="1" sz="1550">
              <a:latin typeface="Nunito"/>
              <a:ea typeface="Nunito"/>
              <a:cs typeface="Nunito"/>
              <a:sym typeface="Nunito"/>
            </a:endParaRPr>
          </a:p>
          <a:p>
            <a:pPr indent="-327025" lvl="0" marL="457200" rtl="0" algn="l">
              <a:lnSpc>
                <a:spcPct val="115000"/>
              </a:lnSpc>
              <a:spcBef>
                <a:spcPts val="0"/>
              </a:spcBef>
              <a:spcAft>
                <a:spcPts val="0"/>
              </a:spcAft>
              <a:buSzPts val="1550"/>
              <a:buFont typeface="Nunito"/>
              <a:buChar char="-"/>
            </a:pPr>
            <a:r>
              <a:rPr lang="en" sz="1550">
                <a:latin typeface="Nunito"/>
                <a:ea typeface="Nunito"/>
                <a:cs typeface="Nunito"/>
                <a:sym typeface="Nunito"/>
              </a:rPr>
              <a:t>Batch size: </a:t>
            </a:r>
            <a:r>
              <a:rPr b="1" lang="en" sz="1550">
                <a:latin typeface="Nunito"/>
                <a:ea typeface="Nunito"/>
                <a:cs typeface="Nunito"/>
                <a:sym typeface="Nunito"/>
              </a:rPr>
              <a:t>16</a:t>
            </a:r>
            <a:endParaRPr b="1" sz="1550">
              <a:latin typeface="Nunito"/>
              <a:ea typeface="Nunito"/>
              <a:cs typeface="Nunito"/>
              <a:sym typeface="Nunito"/>
            </a:endParaRPr>
          </a:p>
          <a:p>
            <a:pPr indent="-327025" lvl="0" marL="457200" rtl="0" algn="l">
              <a:lnSpc>
                <a:spcPct val="115000"/>
              </a:lnSpc>
              <a:spcBef>
                <a:spcPts val="0"/>
              </a:spcBef>
              <a:spcAft>
                <a:spcPts val="0"/>
              </a:spcAft>
              <a:buSzPts val="1550"/>
              <a:buFont typeface="Nunito"/>
              <a:buChar char="-"/>
            </a:pPr>
            <a:r>
              <a:rPr lang="en" sz="1550">
                <a:latin typeface="Nunito"/>
                <a:ea typeface="Nunito"/>
                <a:cs typeface="Nunito"/>
                <a:sym typeface="Nunito"/>
              </a:rPr>
              <a:t>Optimizer: </a:t>
            </a:r>
            <a:r>
              <a:rPr b="1" lang="en" sz="1550">
                <a:latin typeface="Nunito"/>
                <a:ea typeface="Nunito"/>
                <a:cs typeface="Nunito"/>
                <a:sym typeface="Nunito"/>
              </a:rPr>
              <a:t>AdamW</a:t>
            </a:r>
            <a:endParaRPr sz="1550">
              <a:latin typeface="Nunito"/>
              <a:ea typeface="Nunito"/>
              <a:cs typeface="Nunito"/>
              <a:sym typeface="Nunito"/>
            </a:endParaRPr>
          </a:p>
          <a:p>
            <a:pPr indent="-327025" lvl="0" marL="457200" rtl="0" algn="l">
              <a:lnSpc>
                <a:spcPct val="115000"/>
              </a:lnSpc>
              <a:spcBef>
                <a:spcPts val="0"/>
              </a:spcBef>
              <a:spcAft>
                <a:spcPts val="0"/>
              </a:spcAft>
              <a:buSzPts val="1550"/>
              <a:buFont typeface="Nunito"/>
              <a:buChar char="-"/>
            </a:pPr>
            <a:r>
              <a:rPr lang="en" sz="1550">
                <a:latin typeface="Nunito"/>
                <a:ea typeface="Nunito"/>
                <a:cs typeface="Nunito"/>
                <a:sym typeface="Nunito"/>
              </a:rPr>
              <a:t>Maximum of 6 epochs</a:t>
            </a:r>
            <a:endParaRPr sz="1550">
              <a:latin typeface="Nunito"/>
              <a:ea typeface="Nunito"/>
              <a:cs typeface="Nunito"/>
              <a:sym typeface="Nunito"/>
            </a:endParaRPr>
          </a:p>
          <a:p>
            <a:pPr indent="0" lvl="0" marL="0" rtl="0" algn="l">
              <a:lnSpc>
                <a:spcPct val="115000"/>
              </a:lnSpc>
              <a:spcBef>
                <a:spcPts val="1200"/>
              </a:spcBef>
              <a:spcAft>
                <a:spcPts val="0"/>
              </a:spcAft>
              <a:buNone/>
            </a:pPr>
            <a:r>
              <a:rPr lang="en" sz="1550">
                <a:latin typeface="Nunito"/>
                <a:ea typeface="Nunito"/>
                <a:cs typeface="Nunito"/>
                <a:sym typeface="Nunito"/>
              </a:rPr>
              <a:t>5. Used the HuggingFace Trainer API for reproducibility</a:t>
            </a:r>
            <a:endParaRPr sz="1550">
              <a:latin typeface="Nunito"/>
              <a:ea typeface="Nunito"/>
              <a:cs typeface="Nunito"/>
              <a:sym typeface="Nunito"/>
            </a:endParaRPr>
          </a:p>
          <a:p>
            <a:pPr indent="0" lvl="0" marL="0" rtl="0" algn="l">
              <a:lnSpc>
                <a:spcPct val="115000"/>
              </a:lnSpc>
              <a:spcBef>
                <a:spcPts val="1200"/>
              </a:spcBef>
              <a:spcAft>
                <a:spcPts val="1200"/>
              </a:spcAft>
              <a:buNone/>
            </a:pPr>
            <a:r>
              <a:t/>
            </a:r>
            <a:endParaRPr sz="1550">
              <a:latin typeface="Nunito"/>
              <a:ea typeface="Nunito"/>
              <a:cs typeface="Nunito"/>
              <a:sym typeface="Nunito"/>
            </a:endParaRPr>
          </a:p>
        </p:txBody>
      </p:sp>
      <p:sp>
        <p:nvSpPr>
          <p:cNvPr id="216" name="Google Shape;216;p24"/>
          <p:cNvSpPr txBox="1"/>
          <p:nvPr/>
        </p:nvSpPr>
        <p:spPr>
          <a:xfrm>
            <a:off x="761550" y="4210425"/>
            <a:ext cx="7620900" cy="68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lang="en" sz="1550">
                <a:latin typeface="Nunito"/>
                <a:ea typeface="Nunito"/>
                <a:cs typeface="Nunito"/>
                <a:sym typeface="Nunito"/>
              </a:rPr>
              <a:t>6. Lastly, w</a:t>
            </a:r>
            <a:r>
              <a:rPr lang="en" sz="1550">
                <a:latin typeface="Nunito"/>
                <a:ea typeface="Nunito"/>
                <a:cs typeface="Nunito"/>
                <a:sym typeface="Nunito"/>
              </a:rPr>
              <a:t>e selected the version of the model with the </a:t>
            </a:r>
            <a:r>
              <a:rPr b="1" lang="en" sz="1550">
                <a:latin typeface="Nunito"/>
                <a:ea typeface="Nunito"/>
                <a:cs typeface="Nunito"/>
                <a:sym typeface="Nunito"/>
              </a:rPr>
              <a:t>lowest validation loss</a:t>
            </a:r>
            <a:r>
              <a:rPr lang="en" sz="1550">
                <a:latin typeface="Nunito"/>
                <a:ea typeface="Nunito"/>
                <a:cs typeface="Nunito"/>
                <a:sym typeface="Nunito"/>
              </a:rPr>
              <a:t> for final evaluation.</a:t>
            </a:r>
            <a:endParaRPr sz="1550">
              <a:latin typeface="Nunito"/>
              <a:ea typeface="Nunito"/>
              <a:cs typeface="Nunito"/>
              <a:sym typeface="Nunito"/>
            </a:endParaRPr>
          </a:p>
        </p:txBody>
      </p:sp>
      <p:sp>
        <p:nvSpPr>
          <p:cNvPr id="217" name="Google Shape;217;p24"/>
          <p:cNvSpPr txBox="1"/>
          <p:nvPr/>
        </p:nvSpPr>
        <p:spPr>
          <a:xfrm>
            <a:off x="913950" y="1113525"/>
            <a:ext cx="7620900" cy="682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None/>
            </a:pPr>
            <a:r>
              <a:rPr lang="en" sz="1550">
                <a:latin typeface="Nunito"/>
                <a:ea typeface="Nunito"/>
                <a:cs typeface="Nunito"/>
                <a:sym typeface="Nunito"/>
              </a:rPr>
              <a:t>To classify sentiment, we fine-tuned a </a:t>
            </a:r>
            <a:r>
              <a:rPr b="1" lang="en" sz="1550">
                <a:latin typeface="Nunito"/>
                <a:ea typeface="Nunito"/>
                <a:cs typeface="Nunito"/>
                <a:sym typeface="Nunito"/>
              </a:rPr>
              <a:t>Transformer-based model (DistilBERT)</a:t>
            </a:r>
            <a:endParaRPr sz="1550">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5"/>
          <p:cNvSpPr txBox="1"/>
          <p:nvPr>
            <p:ph type="title"/>
          </p:nvPr>
        </p:nvSpPr>
        <p:spPr>
          <a:xfrm>
            <a:off x="819150" y="56285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Regression Model</a:t>
            </a:r>
            <a:endParaRPr/>
          </a:p>
        </p:txBody>
      </p:sp>
      <p:sp>
        <p:nvSpPr>
          <p:cNvPr id="223" name="Google Shape;223;p25"/>
          <p:cNvSpPr txBox="1"/>
          <p:nvPr/>
        </p:nvSpPr>
        <p:spPr>
          <a:xfrm>
            <a:off x="902125" y="1332875"/>
            <a:ext cx="7620900" cy="1077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b="1" lang="en" sz="1500">
                <a:latin typeface="Nunito"/>
                <a:ea typeface="Nunito"/>
                <a:cs typeface="Nunito"/>
                <a:sym typeface="Nunito"/>
              </a:rPr>
              <a:t>Engagement Modeling (OLS Regression)</a:t>
            </a:r>
            <a:endParaRPr b="1" sz="1500">
              <a:latin typeface="Nunito"/>
              <a:ea typeface="Nunito"/>
              <a:cs typeface="Nunito"/>
              <a:sym typeface="Nunito"/>
            </a:endParaRPr>
          </a:p>
          <a:p>
            <a:pPr indent="0" lvl="0" marL="0" rtl="0" algn="l">
              <a:lnSpc>
                <a:spcPct val="115000"/>
              </a:lnSpc>
              <a:spcBef>
                <a:spcPts val="1200"/>
              </a:spcBef>
              <a:spcAft>
                <a:spcPts val="0"/>
              </a:spcAft>
              <a:buNone/>
            </a:pPr>
            <a:r>
              <a:rPr lang="en" sz="1500">
                <a:latin typeface="Nunito"/>
                <a:ea typeface="Nunito"/>
                <a:cs typeface="Nunito"/>
                <a:sym typeface="Nunito"/>
              </a:rPr>
              <a:t>We used </a:t>
            </a:r>
            <a:r>
              <a:rPr b="1" lang="en" sz="1500">
                <a:latin typeface="Nunito"/>
                <a:ea typeface="Nunito"/>
                <a:cs typeface="Nunito"/>
                <a:sym typeface="Nunito"/>
              </a:rPr>
              <a:t>linear regression</a:t>
            </a:r>
            <a:r>
              <a:rPr lang="en" sz="1500">
                <a:latin typeface="Nunito"/>
                <a:ea typeface="Nunito"/>
                <a:cs typeface="Nunito"/>
                <a:sym typeface="Nunito"/>
              </a:rPr>
              <a:t> to test whether sentiment predicts engagement (likes + </a:t>
            </a:r>
            <a:r>
              <a:rPr lang="en" sz="1500">
                <a:latin typeface="Nunito"/>
                <a:ea typeface="Nunito"/>
                <a:cs typeface="Nunito"/>
                <a:sym typeface="Nunito"/>
              </a:rPr>
              <a:t>r</a:t>
            </a:r>
            <a:r>
              <a:rPr lang="en" sz="1500">
                <a:latin typeface="Nunito"/>
                <a:ea typeface="Nunito"/>
                <a:cs typeface="Nunito"/>
                <a:sym typeface="Nunito"/>
              </a:rPr>
              <a:t>etweets).</a:t>
            </a:r>
            <a:endParaRPr sz="1500">
              <a:latin typeface="Nunito"/>
              <a:ea typeface="Nunito"/>
              <a:cs typeface="Nunito"/>
              <a:sym typeface="Nunito"/>
            </a:endParaRPr>
          </a:p>
          <a:p>
            <a:pPr indent="0" lvl="0" marL="0" rtl="0" algn="l">
              <a:lnSpc>
                <a:spcPct val="115000"/>
              </a:lnSpc>
              <a:spcBef>
                <a:spcPts val="1200"/>
              </a:spcBef>
              <a:spcAft>
                <a:spcPts val="0"/>
              </a:spcAft>
              <a:buNone/>
            </a:pPr>
            <a:r>
              <a:t/>
            </a:r>
            <a:endParaRPr sz="1500">
              <a:latin typeface="Nunito"/>
              <a:ea typeface="Nunito"/>
              <a:cs typeface="Nunito"/>
              <a:sym typeface="Nunito"/>
            </a:endParaRPr>
          </a:p>
          <a:p>
            <a:pPr indent="0" lvl="0" marL="0" rtl="0" algn="l">
              <a:spcBef>
                <a:spcPts val="1200"/>
              </a:spcBef>
              <a:spcAft>
                <a:spcPts val="0"/>
              </a:spcAft>
              <a:buNone/>
            </a:pPr>
            <a:r>
              <a:t/>
            </a:r>
            <a:endParaRPr sz="1500">
              <a:solidFill>
                <a:schemeClr val="dk2"/>
              </a:solidFill>
              <a:latin typeface="Nunito"/>
              <a:ea typeface="Nunito"/>
              <a:cs typeface="Nunito"/>
              <a:sym typeface="Nunito"/>
            </a:endParaRPr>
          </a:p>
        </p:txBody>
      </p:sp>
      <p:sp>
        <p:nvSpPr>
          <p:cNvPr id="224" name="Google Shape;224;p25"/>
          <p:cNvSpPr txBox="1"/>
          <p:nvPr/>
        </p:nvSpPr>
        <p:spPr>
          <a:xfrm>
            <a:off x="4268300" y="2571750"/>
            <a:ext cx="4483500" cy="171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50">
                <a:solidFill>
                  <a:schemeClr val="dk2"/>
                </a:solidFill>
                <a:latin typeface="Nunito"/>
                <a:ea typeface="Nunito"/>
                <a:cs typeface="Nunito"/>
                <a:sym typeface="Nunito"/>
              </a:rPr>
              <a:t>Model Form</a:t>
            </a:r>
            <a:r>
              <a:rPr b="1" lang="en" sz="1550">
                <a:solidFill>
                  <a:schemeClr val="dk2"/>
                </a:solidFill>
                <a:latin typeface="Nunito"/>
                <a:ea typeface="Nunito"/>
                <a:cs typeface="Nunito"/>
                <a:sym typeface="Nunito"/>
              </a:rPr>
              <a:t>: </a:t>
            </a:r>
            <a:endParaRPr b="1" sz="1550">
              <a:solidFill>
                <a:schemeClr val="dk2"/>
              </a:solidFill>
              <a:latin typeface="Nunito"/>
              <a:ea typeface="Nunito"/>
              <a:cs typeface="Nunito"/>
              <a:sym typeface="Nunito"/>
            </a:endParaRPr>
          </a:p>
          <a:p>
            <a:pPr indent="0" lvl="0" marL="0" rtl="0" algn="l">
              <a:spcBef>
                <a:spcPts val="0"/>
              </a:spcBef>
              <a:spcAft>
                <a:spcPts val="0"/>
              </a:spcAft>
              <a:buNone/>
            </a:pPr>
            <a:r>
              <a:t/>
            </a:r>
            <a:endParaRPr b="1" sz="1550">
              <a:solidFill>
                <a:schemeClr val="dk2"/>
              </a:solidFill>
              <a:latin typeface="Nunito"/>
              <a:ea typeface="Nunito"/>
              <a:cs typeface="Nunito"/>
              <a:sym typeface="Nunito"/>
            </a:endParaRPr>
          </a:p>
          <a:p>
            <a:pPr indent="0" lvl="0" marL="0" rtl="0" algn="ctr">
              <a:spcBef>
                <a:spcPts val="0"/>
              </a:spcBef>
              <a:spcAft>
                <a:spcPts val="0"/>
              </a:spcAft>
              <a:buNone/>
            </a:pPr>
            <a:r>
              <a:rPr i="1" lang="en" sz="1550">
                <a:solidFill>
                  <a:schemeClr val="dk2"/>
                </a:solidFill>
                <a:latin typeface="Nunito"/>
                <a:ea typeface="Nunito"/>
                <a:cs typeface="Nunito"/>
                <a:sym typeface="Nunito"/>
              </a:rPr>
              <a:t> Engagement = </a:t>
            </a:r>
            <a:r>
              <a:rPr lang="en" sz="1550">
                <a:latin typeface="Nunito"/>
                <a:ea typeface="Nunito"/>
                <a:cs typeface="Nunito"/>
                <a:sym typeface="Nunito"/>
              </a:rPr>
              <a:t>β0 +β1 (Positive)+β2 (Negative)+ϵ</a:t>
            </a:r>
            <a:endParaRPr sz="1550">
              <a:latin typeface="Nunito"/>
              <a:ea typeface="Nunito"/>
              <a:cs typeface="Nunito"/>
              <a:sym typeface="Nunito"/>
            </a:endParaRPr>
          </a:p>
          <a:p>
            <a:pPr indent="0" lvl="0" marL="0" rtl="0" algn="ctr">
              <a:spcBef>
                <a:spcPts val="0"/>
              </a:spcBef>
              <a:spcAft>
                <a:spcPts val="0"/>
              </a:spcAft>
              <a:buNone/>
            </a:pPr>
            <a:r>
              <a:t/>
            </a:r>
            <a:endParaRPr sz="1550">
              <a:latin typeface="Nunito"/>
              <a:ea typeface="Nunito"/>
              <a:cs typeface="Nunito"/>
              <a:sym typeface="Nunito"/>
            </a:endParaRPr>
          </a:p>
          <a:p>
            <a:pPr indent="0" lvl="0" marL="0" rtl="0" algn="ctr">
              <a:spcBef>
                <a:spcPts val="0"/>
              </a:spcBef>
              <a:spcAft>
                <a:spcPts val="0"/>
              </a:spcAft>
              <a:buNone/>
            </a:pPr>
            <a:r>
              <a:t/>
            </a:r>
            <a:endParaRPr sz="1550">
              <a:latin typeface="Nunito"/>
              <a:ea typeface="Nunito"/>
              <a:cs typeface="Nunito"/>
              <a:sym typeface="Nunito"/>
            </a:endParaRPr>
          </a:p>
        </p:txBody>
      </p:sp>
      <p:sp>
        <p:nvSpPr>
          <p:cNvPr id="225" name="Google Shape;225;p25"/>
          <p:cNvSpPr txBox="1"/>
          <p:nvPr/>
        </p:nvSpPr>
        <p:spPr>
          <a:xfrm>
            <a:off x="430875" y="2410175"/>
            <a:ext cx="4079700" cy="2410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 sz="1500">
                <a:latin typeface="Nunito"/>
                <a:ea typeface="Nunito"/>
                <a:cs typeface="Nunito"/>
                <a:sym typeface="Nunito"/>
              </a:rPr>
              <a:t>Variables:</a:t>
            </a:r>
            <a:endParaRPr b="1" sz="1500">
              <a:latin typeface="Nunito"/>
              <a:ea typeface="Nunito"/>
              <a:cs typeface="Nunito"/>
              <a:sym typeface="Nunito"/>
            </a:endParaRPr>
          </a:p>
          <a:p>
            <a:pPr indent="-323850" lvl="0" marL="457200" rtl="0" algn="l">
              <a:lnSpc>
                <a:spcPct val="115000"/>
              </a:lnSpc>
              <a:spcBef>
                <a:spcPts val="1200"/>
              </a:spcBef>
              <a:spcAft>
                <a:spcPts val="0"/>
              </a:spcAft>
              <a:buSzPts val="1500"/>
              <a:buChar char="●"/>
            </a:pPr>
            <a:r>
              <a:rPr b="1" lang="en" sz="1500">
                <a:latin typeface="Nunito"/>
                <a:ea typeface="Nunito"/>
                <a:cs typeface="Nunito"/>
                <a:sym typeface="Nunito"/>
              </a:rPr>
              <a:t>Y (Dependent):</a:t>
            </a:r>
            <a:r>
              <a:rPr lang="en" sz="1500">
                <a:latin typeface="Nunito"/>
                <a:ea typeface="Nunito"/>
                <a:cs typeface="Nunito"/>
                <a:sym typeface="Nunito"/>
              </a:rPr>
              <a:t> Engagement score</a:t>
            </a:r>
            <a:br>
              <a:rPr lang="en" sz="1500">
                <a:latin typeface="Nunito"/>
                <a:ea typeface="Nunito"/>
                <a:cs typeface="Nunito"/>
                <a:sym typeface="Nunito"/>
              </a:rPr>
            </a:br>
            <a:endParaRPr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b="1" lang="en" sz="1500">
                <a:latin typeface="Nunito"/>
                <a:ea typeface="Nunito"/>
                <a:cs typeface="Nunito"/>
                <a:sym typeface="Nunito"/>
              </a:rPr>
              <a:t>X (Independent):</a:t>
            </a:r>
            <a:r>
              <a:rPr lang="en" sz="1500">
                <a:latin typeface="Nunito"/>
                <a:ea typeface="Nunito"/>
                <a:cs typeface="Nunito"/>
                <a:sym typeface="Nunito"/>
              </a:rPr>
              <a:t> Dummy-coded sentiment</a:t>
            </a:r>
            <a:endParaRPr sz="1500">
              <a:latin typeface="Nunito"/>
              <a:ea typeface="Nunito"/>
              <a:cs typeface="Nunito"/>
              <a:sym typeface="Nunito"/>
            </a:endParaRPr>
          </a:p>
          <a:p>
            <a:pPr indent="-323850" lvl="1" marL="914400" rtl="0" algn="l">
              <a:lnSpc>
                <a:spcPct val="115000"/>
              </a:lnSpc>
              <a:spcBef>
                <a:spcPts val="0"/>
              </a:spcBef>
              <a:spcAft>
                <a:spcPts val="0"/>
              </a:spcAft>
              <a:buSzPts val="1500"/>
              <a:buFont typeface="Nunito"/>
              <a:buChar char="○"/>
            </a:pPr>
            <a:r>
              <a:rPr lang="en" sz="1500">
                <a:latin typeface="Nunito"/>
                <a:ea typeface="Nunito"/>
                <a:cs typeface="Nunito"/>
                <a:sym typeface="Nunito"/>
              </a:rPr>
              <a:t>Positive = 1, Negative = 1</a:t>
            </a:r>
            <a:endParaRPr sz="1500">
              <a:latin typeface="Nunito"/>
              <a:ea typeface="Nunito"/>
              <a:cs typeface="Nunito"/>
              <a:sym typeface="Nunito"/>
            </a:endParaRPr>
          </a:p>
          <a:p>
            <a:pPr indent="-323850" lvl="1" marL="914400" rtl="0" algn="l">
              <a:lnSpc>
                <a:spcPct val="115000"/>
              </a:lnSpc>
              <a:spcBef>
                <a:spcPts val="0"/>
              </a:spcBef>
              <a:spcAft>
                <a:spcPts val="0"/>
              </a:spcAft>
              <a:buSzPts val="1500"/>
              <a:buFont typeface="Nunito"/>
              <a:buChar char="○"/>
            </a:pPr>
            <a:r>
              <a:rPr lang="en" sz="1500">
                <a:latin typeface="Nunito"/>
                <a:ea typeface="Nunito"/>
                <a:cs typeface="Nunito"/>
                <a:sym typeface="Nunito"/>
              </a:rPr>
              <a:t>Neutral = reference category</a:t>
            </a:r>
            <a:endParaRPr sz="1500">
              <a:latin typeface="Nunito"/>
              <a:ea typeface="Nunito"/>
              <a:cs typeface="Nunito"/>
              <a:sym typeface="Nunito"/>
            </a:endParaRPr>
          </a:p>
          <a:p>
            <a:pPr indent="0" lvl="0" marL="0" rtl="0" algn="l">
              <a:spcBef>
                <a:spcPts val="1200"/>
              </a:spcBef>
              <a:spcAft>
                <a:spcPts val="0"/>
              </a:spcAft>
              <a:buNone/>
            </a:pPr>
            <a:r>
              <a:t/>
            </a:r>
            <a:endParaRPr sz="1500">
              <a:solidFill>
                <a:schemeClr val="dk2"/>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ph type="title"/>
          </p:nvPr>
        </p:nvSpPr>
        <p:spPr>
          <a:xfrm>
            <a:off x="819150" y="209445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RESULTS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ph type="title"/>
          </p:nvPr>
        </p:nvSpPr>
        <p:spPr>
          <a:xfrm>
            <a:off x="605675" y="3904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Classification Report Summary</a:t>
            </a:r>
            <a:endParaRPr/>
          </a:p>
        </p:txBody>
      </p:sp>
      <p:sp>
        <p:nvSpPr>
          <p:cNvPr id="236" name="Google Shape;236;p27"/>
          <p:cNvSpPr txBox="1"/>
          <p:nvPr/>
        </p:nvSpPr>
        <p:spPr>
          <a:xfrm>
            <a:off x="441825" y="1415550"/>
            <a:ext cx="2112000" cy="23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500">
                <a:latin typeface="Nunito"/>
                <a:ea typeface="Nunito"/>
                <a:cs typeface="Nunito"/>
                <a:sym typeface="Nunito"/>
              </a:rPr>
              <a:t>Negative</a:t>
            </a:r>
            <a:endParaRPr b="1" sz="1500">
              <a:latin typeface="Nunito"/>
              <a:ea typeface="Nunito"/>
              <a:cs typeface="Nunito"/>
              <a:sym typeface="Nunito"/>
            </a:endParaRPr>
          </a:p>
          <a:p>
            <a:pPr indent="-323850" lvl="0" marL="457200" rtl="0" algn="l">
              <a:lnSpc>
                <a:spcPct val="115000"/>
              </a:lnSpc>
              <a:spcBef>
                <a:spcPts val="1200"/>
              </a:spcBef>
              <a:spcAft>
                <a:spcPts val="0"/>
              </a:spcAft>
              <a:buSzPts val="1500"/>
              <a:buChar char="●"/>
            </a:pPr>
            <a:r>
              <a:rPr lang="en" sz="1500">
                <a:latin typeface="Nunito"/>
                <a:ea typeface="Nunito"/>
                <a:cs typeface="Nunito"/>
                <a:sym typeface="Nunito"/>
              </a:rPr>
              <a:t>Precision: </a:t>
            </a:r>
            <a:r>
              <a:rPr b="1" lang="en" sz="1500">
                <a:latin typeface="Nunito"/>
                <a:ea typeface="Nunito"/>
                <a:cs typeface="Nunito"/>
                <a:sym typeface="Nunito"/>
              </a:rPr>
              <a:t>1.00</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Recall: </a:t>
            </a:r>
            <a:r>
              <a:rPr b="1" lang="en" sz="1500">
                <a:latin typeface="Nunito"/>
                <a:ea typeface="Nunito"/>
                <a:cs typeface="Nunito"/>
                <a:sym typeface="Nunito"/>
              </a:rPr>
              <a:t>0.93</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F1-score: </a:t>
            </a:r>
            <a:r>
              <a:rPr b="1" lang="en" sz="1500">
                <a:latin typeface="Nunito"/>
                <a:ea typeface="Nunito"/>
                <a:cs typeface="Nunito"/>
                <a:sym typeface="Nunito"/>
              </a:rPr>
              <a:t>0.96</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Support: </a:t>
            </a:r>
            <a:r>
              <a:rPr b="1" lang="en" sz="1500">
                <a:latin typeface="Nunito"/>
                <a:ea typeface="Nunito"/>
                <a:cs typeface="Nunito"/>
                <a:sym typeface="Nunito"/>
              </a:rPr>
              <a:t>27</a:t>
            </a:r>
            <a:endParaRPr b="1" sz="1500">
              <a:latin typeface="Nunito"/>
              <a:ea typeface="Nunito"/>
              <a:cs typeface="Nunito"/>
              <a:sym typeface="Nunito"/>
            </a:endParaRPr>
          </a:p>
        </p:txBody>
      </p:sp>
      <p:sp>
        <p:nvSpPr>
          <p:cNvPr id="237" name="Google Shape;237;p27"/>
          <p:cNvSpPr txBox="1"/>
          <p:nvPr/>
        </p:nvSpPr>
        <p:spPr>
          <a:xfrm>
            <a:off x="2298925" y="1415550"/>
            <a:ext cx="2193900" cy="224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500">
                <a:latin typeface="Nunito"/>
                <a:ea typeface="Nunito"/>
                <a:cs typeface="Nunito"/>
                <a:sym typeface="Nunito"/>
              </a:rPr>
              <a:t>Neutral</a:t>
            </a:r>
            <a:endParaRPr b="1" sz="1500">
              <a:latin typeface="Nunito"/>
              <a:ea typeface="Nunito"/>
              <a:cs typeface="Nunito"/>
              <a:sym typeface="Nunito"/>
            </a:endParaRPr>
          </a:p>
          <a:p>
            <a:pPr indent="-323850" lvl="0" marL="457200" rtl="0" algn="l">
              <a:lnSpc>
                <a:spcPct val="115000"/>
              </a:lnSpc>
              <a:spcBef>
                <a:spcPts val="1200"/>
              </a:spcBef>
              <a:spcAft>
                <a:spcPts val="0"/>
              </a:spcAft>
              <a:buSzPts val="1500"/>
              <a:buChar char="●"/>
            </a:pPr>
            <a:r>
              <a:rPr lang="en" sz="1500">
                <a:latin typeface="Nunito"/>
                <a:ea typeface="Nunito"/>
                <a:cs typeface="Nunito"/>
                <a:sym typeface="Nunito"/>
              </a:rPr>
              <a:t>Precision: </a:t>
            </a:r>
            <a:r>
              <a:rPr b="1" lang="en" sz="1500">
                <a:latin typeface="Nunito"/>
                <a:ea typeface="Nunito"/>
                <a:cs typeface="Nunito"/>
                <a:sym typeface="Nunito"/>
              </a:rPr>
              <a:t>0.78</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Recall: </a:t>
            </a:r>
            <a:r>
              <a:rPr b="1" lang="en" sz="1500">
                <a:latin typeface="Nunito"/>
                <a:ea typeface="Nunito"/>
                <a:cs typeface="Nunito"/>
                <a:sym typeface="Nunito"/>
              </a:rPr>
              <a:t>0.70</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F1-score: </a:t>
            </a:r>
            <a:r>
              <a:rPr b="1" lang="en" sz="1500">
                <a:latin typeface="Nunito"/>
                <a:ea typeface="Nunito"/>
                <a:cs typeface="Nunito"/>
                <a:sym typeface="Nunito"/>
              </a:rPr>
              <a:t>0.74</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Support: </a:t>
            </a:r>
            <a:r>
              <a:rPr b="1" lang="en" sz="1500">
                <a:latin typeface="Nunito"/>
                <a:ea typeface="Nunito"/>
                <a:cs typeface="Nunito"/>
                <a:sym typeface="Nunito"/>
              </a:rPr>
              <a:t>10</a:t>
            </a:r>
            <a:endParaRPr b="1" sz="1500">
              <a:latin typeface="Nunito"/>
              <a:ea typeface="Nunito"/>
              <a:cs typeface="Nunito"/>
              <a:sym typeface="Nunito"/>
            </a:endParaRPr>
          </a:p>
        </p:txBody>
      </p:sp>
      <p:sp>
        <p:nvSpPr>
          <p:cNvPr id="238" name="Google Shape;238;p27"/>
          <p:cNvSpPr txBox="1"/>
          <p:nvPr/>
        </p:nvSpPr>
        <p:spPr>
          <a:xfrm>
            <a:off x="4292600" y="1415550"/>
            <a:ext cx="2193900" cy="185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500">
                <a:latin typeface="Nunito"/>
                <a:ea typeface="Nunito"/>
                <a:cs typeface="Nunito"/>
                <a:sym typeface="Nunito"/>
              </a:rPr>
              <a:t>Positive</a:t>
            </a:r>
            <a:endParaRPr b="1" sz="1500">
              <a:latin typeface="Nunito"/>
              <a:ea typeface="Nunito"/>
              <a:cs typeface="Nunito"/>
              <a:sym typeface="Nunito"/>
            </a:endParaRPr>
          </a:p>
          <a:p>
            <a:pPr indent="-323850" lvl="0" marL="457200" rtl="0" algn="l">
              <a:lnSpc>
                <a:spcPct val="115000"/>
              </a:lnSpc>
              <a:spcBef>
                <a:spcPts val="1200"/>
              </a:spcBef>
              <a:spcAft>
                <a:spcPts val="0"/>
              </a:spcAft>
              <a:buSzPts val="1500"/>
              <a:buChar char="●"/>
            </a:pPr>
            <a:r>
              <a:rPr lang="en" sz="1500">
                <a:latin typeface="Nunito"/>
                <a:ea typeface="Nunito"/>
                <a:cs typeface="Nunito"/>
                <a:sym typeface="Nunito"/>
              </a:rPr>
              <a:t>Precision: </a:t>
            </a:r>
            <a:r>
              <a:rPr b="1" lang="en" sz="1500">
                <a:latin typeface="Nunito"/>
                <a:ea typeface="Nunito"/>
                <a:cs typeface="Nunito"/>
                <a:sym typeface="Nunito"/>
              </a:rPr>
              <a:t>0.95</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Recall: </a:t>
            </a:r>
            <a:r>
              <a:rPr b="1" lang="en" sz="1500">
                <a:latin typeface="Nunito"/>
                <a:ea typeface="Nunito"/>
                <a:cs typeface="Nunito"/>
                <a:sym typeface="Nunito"/>
              </a:rPr>
              <a:t>0.99</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F1-score: </a:t>
            </a:r>
            <a:r>
              <a:rPr b="1" lang="en" sz="1500">
                <a:latin typeface="Nunito"/>
                <a:ea typeface="Nunito"/>
                <a:cs typeface="Nunito"/>
                <a:sym typeface="Nunito"/>
              </a:rPr>
              <a:t>0.97</a:t>
            </a:r>
            <a:br>
              <a:rPr b="1" lang="en" sz="1500">
                <a:latin typeface="Nunito"/>
                <a:ea typeface="Nunito"/>
                <a:cs typeface="Nunito"/>
                <a:sym typeface="Nunito"/>
              </a:rPr>
            </a:br>
            <a:endParaRPr b="1" sz="1500">
              <a:latin typeface="Nunito"/>
              <a:ea typeface="Nunito"/>
              <a:cs typeface="Nunito"/>
              <a:sym typeface="Nunito"/>
            </a:endParaRPr>
          </a:p>
          <a:p>
            <a:pPr indent="-298450" lvl="0" marL="457200" rtl="0" algn="l">
              <a:lnSpc>
                <a:spcPct val="115000"/>
              </a:lnSpc>
              <a:spcBef>
                <a:spcPts val="0"/>
              </a:spcBef>
              <a:spcAft>
                <a:spcPts val="0"/>
              </a:spcAft>
              <a:buSzPts val="1100"/>
              <a:buChar char="●"/>
            </a:pPr>
            <a:r>
              <a:rPr lang="en" sz="1500">
                <a:latin typeface="Nunito"/>
                <a:ea typeface="Nunito"/>
                <a:cs typeface="Nunito"/>
                <a:sym typeface="Nunito"/>
              </a:rPr>
              <a:t>Support: </a:t>
            </a:r>
            <a:r>
              <a:rPr b="1" lang="en" sz="1500">
                <a:latin typeface="Nunito"/>
                <a:ea typeface="Nunito"/>
                <a:cs typeface="Nunito"/>
                <a:sym typeface="Nunito"/>
              </a:rPr>
              <a:t>71</a:t>
            </a:r>
            <a:br>
              <a:rPr b="1" lang="en" sz="1100"/>
            </a:br>
            <a:endParaRPr b="1" sz="1100"/>
          </a:p>
          <a:p>
            <a:pPr indent="0" lvl="0" marL="0" rtl="0" algn="l">
              <a:spcBef>
                <a:spcPts val="1200"/>
              </a:spcBef>
              <a:spcAft>
                <a:spcPts val="0"/>
              </a:spcAft>
              <a:buNone/>
            </a:pPr>
            <a:r>
              <a:t/>
            </a:r>
            <a:endParaRPr sz="1300">
              <a:solidFill>
                <a:schemeClr val="dk2"/>
              </a:solidFill>
              <a:latin typeface="Calibri"/>
              <a:ea typeface="Calibri"/>
              <a:cs typeface="Calibri"/>
              <a:sym typeface="Calibri"/>
            </a:endParaRPr>
          </a:p>
        </p:txBody>
      </p:sp>
      <p:sp>
        <p:nvSpPr>
          <p:cNvPr id="239" name="Google Shape;239;p27"/>
          <p:cNvSpPr txBox="1"/>
          <p:nvPr/>
        </p:nvSpPr>
        <p:spPr>
          <a:xfrm>
            <a:off x="6486500" y="1415550"/>
            <a:ext cx="1975500" cy="185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500">
                <a:latin typeface="Nunito"/>
                <a:ea typeface="Nunito"/>
                <a:cs typeface="Nunito"/>
                <a:sym typeface="Nunito"/>
              </a:rPr>
              <a:t>Overall Performance</a:t>
            </a:r>
            <a:endParaRPr b="1" sz="1500">
              <a:latin typeface="Nunito"/>
              <a:ea typeface="Nunito"/>
              <a:cs typeface="Nunito"/>
              <a:sym typeface="Nunito"/>
            </a:endParaRPr>
          </a:p>
          <a:p>
            <a:pPr indent="-323850" lvl="0" marL="457200" rtl="0" algn="l">
              <a:lnSpc>
                <a:spcPct val="115000"/>
              </a:lnSpc>
              <a:spcBef>
                <a:spcPts val="1200"/>
              </a:spcBef>
              <a:spcAft>
                <a:spcPts val="0"/>
              </a:spcAft>
              <a:buSzPts val="1500"/>
              <a:buChar char="●"/>
            </a:pPr>
            <a:r>
              <a:rPr lang="en" sz="1500">
                <a:latin typeface="Nunito"/>
                <a:ea typeface="Nunito"/>
                <a:cs typeface="Nunito"/>
                <a:sym typeface="Nunito"/>
              </a:rPr>
              <a:t>Accuracy: </a:t>
            </a:r>
            <a:r>
              <a:rPr b="1" lang="en" sz="1500">
                <a:latin typeface="Nunito"/>
                <a:ea typeface="Nunito"/>
                <a:cs typeface="Nunito"/>
                <a:sym typeface="Nunito"/>
              </a:rPr>
              <a:t>0.94</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Macro Avg F1: </a:t>
            </a:r>
            <a:r>
              <a:rPr b="1" lang="en" sz="1500">
                <a:latin typeface="Nunito"/>
                <a:ea typeface="Nunito"/>
                <a:cs typeface="Nunito"/>
                <a:sym typeface="Nunito"/>
              </a:rPr>
              <a:t>0.89</a:t>
            </a:r>
            <a:br>
              <a:rPr b="1" lang="en" sz="1500">
                <a:latin typeface="Nunito"/>
                <a:ea typeface="Nunito"/>
                <a:cs typeface="Nunito"/>
                <a:sym typeface="Nunito"/>
              </a:rPr>
            </a:br>
            <a:endParaRPr b="1" sz="1500">
              <a:latin typeface="Nunito"/>
              <a:ea typeface="Nunito"/>
              <a:cs typeface="Nunito"/>
              <a:sym typeface="Nunito"/>
            </a:endParaRPr>
          </a:p>
          <a:p>
            <a:pPr indent="-323850" lvl="0" marL="457200" rtl="0" algn="l">
              <a:lnSpc>
                <a:spcPct val="115000"/>
              </a:lnSpc>
              <a:spcBef>
                <a:spcPts val="0"/>
              </a:spcBef>
              <a:spcAft>
                <a:spcPts val="0"/>
              </a:spcAft>
              <a:buSzPts val="1500"/>
              <a:buChar char="●"/>
            </a:pPr>
            <a:r>
              <a:rPr lang="en" sz="1500">
                <a:latin typeface="Nunito"/>
                <a:ea typeface="Nunito"/>
                <a:cs typeface="Nunito"/>
                <a:sym typeface="Nunito"/>
              </a:rPr>
              <a:t>Weighted Avg F1: </a:t>
            </a:r>
            <a:r>
              <a:rPr b="1" lang="en" sz="1500">
                <a:latin typeface="Nunito"/>
                <a:ea typeface="Nunito"/>
                <a:cs typeface="Nunito"/>
                <a:sym typeface="Nunito"/>
              </a:rPr>
              <a:t>0.94</a:t>
            </a:r>
            <a:endParaRPr b="1" sz="1500">
              <a:latin typeface="Nunito"/>
              <a:ea typeface="Nunito"/>
              <a:cs typeface="Nunito"/>
              <a:sym typeface="Nunito"/>
            </a:endParaRPr>
          </a:p>
          <a:p>
            <a:pPr indent="0" lvl="0" marL="457200" rtl="0" algn="l">
              <a:lnSpc>
                <a:spcPct val="115000"/>
              </a:lnSpc>
              <a:spcBef>
                <a:spcPts val="1200"/>
              </a:spcBef>
              <a:spcAft>
                <a:spcPts val="1200"/>
              </a:spcAft>
              <a:buNone/>
            </a:pPr>
            <a:r>
              <a:t/>
            </a:r>
            <a:endParaRPr b="1"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8"/>
          <p:cNvSpPr txBox="1"/>
          <p:nvPr>
            <p:ph type="title"/>
          </p:nvPr>
        </p:nvSpPr>
        <p:spPr>
          <a:xfrm>
            <a:off x="713950" y="317025"/>
            <a:ext cx="7505700" cy="56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Confusion Matrix </a:t>
            </a:r>
            <a:endParaRPr/>
          </a:p>
        </p:txBody>
      </p:sp>
      <p:sp>
        <p:nvSpPr>
          <p:cNvPr id="245" name="Google Shape;245;p28"/>
          <p:cNvSpPr txBox="1"/>
          <p:nvPr>
            <p:ph idx="1" type="body"/>
          </p:nvPr>
        </p:nvSpPr>
        <p:spPr>
          <a:xfrm>
            <a:off x="602375" y="1415950"/>
            <a:ext cx="3378000" cy="27471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1200"/>
              </a:spcBef>
              <a:spcAft>
                <a:spcPts val="0"/>
              </a:spcAft>
              <a:buSzPts val="1700"/>
              <a:buFont typeface="Nunito"/>
              <a:buChar char="●"/>
            </a:pPr>
            <a:r>
              <a:rPr lang="en" sz="1700">
                <a:latin typeface="Nunito"/>
                <a:ea typeface="Nunito"/>
                <a:cs typeface="Nunito"/>
                <a:sym typeface="Nunito"/>
              </a:rPr>
              <a:t>Positive Sentiments: 69/71 correctly classified. </a:t>
            </a:r>
            <a:endParaRPr sz="1700">
              <a:latin typeface="Nunito"/>
              <a:ea typeface="Nunito"/>
              <a:cs typeface="Nunito"/>
              <a:sym typeface="Nunito"/>
            </a:endParaRPr>
          </a:p>
          <a:p>
            <a:pPr indent="-336550" lvl="0" marL="457200" rtl="0" algn="l">
              <a:lnSpc>
                <a:spcPct val="115000"/>
              </a:lnSpc>
              <a:spcBef>
                <a:spcPts val="0"/>
              </a:spcBef>
              <a:spcAft>
                <a:spcPts val="0"/>
              </a:spcAft>
              <a:buSzPts val="1700"/>
              <a:buFont typeface="Nunito"/>
              <a:buChar char="●"/>
            </a:pPr>
            <a:r>
              <a:rPr lang="en" sz="1700">
                <a:latin typeface="Nunito"/>
                <a:ea typeface="Nunito"/>
                <a:cs typeface="Nunito"/>
                <a:sym typeface="Nunito"/>
              </a:rPr>
              <a:t>Negative sentiments: 23/26 correctly classified. </a:t>
            </a:r>
            <a:endParaRPr sz="1700">
              <a:latin typeface="Nunito"/>
              <a:ea typeface="Nunito"/>
              <a:cs typeface="Nunito"/>
              <a:sym typeface="Nunito"/>
            </a:endParaRPr>
          </a:p>
          <a:p>
            <a:pPr indent="-336550" lvl="0" marL="457200" rtl="0" algn="l">
              <a:lnSpc>
                <a:spcPct val="115000"/>
              </a:lnSpc>
              <a:spcBef>
                <a:spcPts val="0"/>
              </a:spcBef>
              <a:spcAft>
                <a:spcPts val="0"/>
              </a:spcAft>
              <a:buSzPts val="1700"/>
              <a:buFont typeface="Nunito"/>
              <a:buChar char="●"/>
            </a:pPr>
            <a:r>
              <a:rPr lang="en" sz="1700">
                <a:latin typeface="Nunito"/>
                <a:ea typeface="Nunito"/>
                <a:cs typeface="Nunito"/>
                <a:sym typeface="Nunito"/>
              </a:rPr>
              <a:t>Neutral sentiments: 6/11 correctly classified.</a:t>
            </a:r>
            <a:endParaRPr sz="1700">
              <a:latin typeface="Nunito"/>
              <a:ea typeface="Nunito"/>
              <a:cs typeface="Nunito"/>
              <a:sym typeface="Nunito"/>
            </a:endParaRPr>
          </a:p>
          <a:p>
            <a:pPr indent="0" lvl="0" marL="0" rtl="0" algn="l">
              <a:lnSpc>
                <a:spcPct val="75000"/>
              </a:lnSpc>
              <a:spcBef>
                <a:spcPts val="1200"/>
              </a:spcBef>
              <a:spcAft>
                <a:spcPts val="0"/>
              </a:spcAft>
              <a:buSzPts val="533"/>
              <a:buNone/>
            </a:pPr>
            <a:r>
              <a:t/>
            </a:r>
            <a:endParaRPr sz="1800">
              <a:latin typeface="Nunito"/>
              <a:ea typeface="Nunito"/>
              <a:cs typeface="Nunito"/>
              <a:sym typeface="Nunito"/>
            </a:endParaRPr>
          </a:p>
          <a:p>
            <a:pPr indent="0" lvl="0" marL="457200" rtl="0" algn="l">
              <a:lnSpc>
                <a:spcPct val="75000"/>
              </a:lnSpc>
              <a:spcBef>
                <a:spcPts val="1200"/>
              </a:spcBef>
              <a:spcAft>
                <a:spcPts val="0"/>
              </a:spcAft>
              <a:buSzPts val="533"/>
              <a:buNone/>
            </a:pPr>
            <a:r>
              <a:t/>
            </a:r>
            <a:endParaRPr sz="1800">
              <a:latin typeface="Nunito"/>
              <a:ea typeface="Nunito"/>
              <a:cs typeface="Nunito"/>
              <a:sym typeface="Nunito"/>
            </a:endParaRPr>
          </a:p>
          <a:p>
            <a:pPr indent="0" lvl="0" marL="457200" rtl="0" algn="l">
              <a:lnSpc>
                <a:spcPct val="75000"/>
              </a:lnSpc>
              <a:spcBef>
                <a:spcPts val="1200"/>
              </a:spcBef>
              <a:spcAft>
                <a:spcPts val="0"/>
              </a:spcAft>
              <a:buSzPts val="533"/>
              <a:buNone/>
            </a:pPr>
            <a:r>
              <a:t/>
            </a:r>
            <a:endParaRPr sz="1800"/>
          </a:p>
          <a:p>
            <a:pPr indent="0" lvl="0" marL="457200" rtl="0" algn="l">
              <a:lnSpc>
                <a:spcPct val="75000"/>
              </a:lnSpc>
              <a:spcBef>
                <a:spcPts val="1200"/>
              </a:spcBef>
              <a:spcAft>
                <a:spcPts val="1200"/>
              </a:spcAft>
              <a:buSzPts val="533"/>
              <a:buNone/>
            </a:pPr>
            <a:r>
              <a:t/>
            </a:r>
            <a:endParaRPr sz="1800"/>
          </a:p>
        </p:txBody>
      </p:sp>
      <p:pic>
        <p:nvPicPr>
          <p:cNvPr id="246" name="Google Shape;246;p28"/>
          <p:cNvPicPr preferRelativeResize="0"/>
          <p:nvPr/>
        </p:nvPicPr>
        <p:blipFill>
          <a:blip r:embed="rId3">
            <a:alphaModFix/>
          </a:blip>
          <a:stretch>
            <a:fillRect/>
          </a:stretch>
        </p:blipFill>
        <p:spPr>
          <a:xfrm>
            <a:off x="3910350" y="879525"/>
            <a:ext cx="4928849" cy="3819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9"/>
          <p:cNvSpPr txBox="1"/>
          <p:nvPr>
            <p:ph type="title"/>
          </p:nvPr>
        </p:nvSpPr>
        <p:spPr>
          <a:xfrm>
            <a:off x="819150" y="663675"/>
            <a:ext cx="7505700" cy="64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Prediction - Test Accuracy Calculation</a:t>
            </a:r>
            <a:endParaRPr/>
          </a:p>
        </p:txBody>
      </p:sp>
      <p:sp>
        <p:nvSpPr>
          <p:cNvPr id="252" name="Google Shape;252;p29"/>
          <p:cNvSpPr txBox="1"/>
          <p:nvPr>
            <p:ph idx="1" type="body"/>
          </p:nvPr>
        </p:nvSpPr>
        <p:spPr>
          <a:xfrm>
            <a:off x="783850" y="1312875"/>
            <a:ext cx="7505700" cy="3196200"/>
          </a:xfrm>
          <a:prstGeom prst="rect">
            <a:avLst/>
          </a:prstGeom>
        </p:spPr>
        <p:txBody>
          <a:bodyPr anchorCtr="0" anchor="t" bIns="91425" lIns="91425" spcFirstLastPara="1" rIns="91425" wrap="square" tIns="91425">
            <a:noAutofit/>
          </a:bodyPr>
          <a:lstStyle/>
          <a:p>
            <a:pPr indent="-317658" lvl="0" marL="457200" rtl="0" algn="l">
              <a:lnSpc>
                <a:spcPct val="95000"/>
              </a:lnSpc>
              <a:spcBef>
                <a:spcPts val="1200"/>
              </a:spcBef>
              <a:spcAft>
                <a:spcPts val="0"/>
              </a:spcAft>
              <a:buClr>
                <a:srgbClr val="000000"/>
              </a:buClr>
              <a:buSzPts val="1403"/>
              <a:buFont typeface="Arial"/>
              <a:buChar char="●"/>
            </a:pPr>
            <a:r>
              <a:rPr lang="en" sz="1402">
                <a:solidFill>
                  <a:srgbClr val="000000"/>
                </a:solidFill>
                <a:latin typeface="Nunito"/>
                <a:ea typeface="Nunito"/>
                <a:cs typeface="Nunito"/>
                <a:sym typeface="Nunito"/>
              </a:rPr>
              <a:t>Compared the </a:t>
            </a:r>
            <a:r>
              <a:rPr b="1" lang="en" sz="1402">
                <a:solidFill>
                  <a:srgbClr val="000000"/>
                </a:solidFill>
                <a:latin typeface="Nunito"/>
                <a:ea typeface="Nunito"/>
                <a:cs typeface="Nunito"/>
                <a:sym typeface="Nunito"/>
              </a:rPr>
              <a:t>true sentiment labels</a:t>
            </a:r>
            <a:r>
              <a:rPr lang="en" sz="1402">
                <a:solidFill>
                  <a:srgbClr val="000000"/>
                </a:solidFill>
                <a:latin typeface="Nunito"/>
                <a:ea typeface="Nunito"/>
                <a:cs typeface="Nunito"/>
                <a:sym typeface="Nunito"/>
              </a:rPr>
              <a:t> with the </a:t>
            </a:r>
            <a:r>
              <a:rPr b="1" lang="en" sz="1402">
                <a:solidFill>
                  <a:srgbClr val="000000"/>
                </a:solidFill>
                <a:latin typeface="Nunito"/>
                <a:ea typeface="Nunito"/>
                <a:cs typeface="Nunito"/>
                <a:sym typeface="Nunito"/>
              </a:rPr>
              <a:t>predicted labels</a:t>
            </a:r>
            <a:r>
              <a:rPr lang="en" sz="1402">
                <a:solidFill>
                  <a:srgbClr val="000000"/>
                </a:solidFill>
                <a:latin typeface="Nunito"/>
                <a:ea typeface="Nunito"/>
                <a:cs typeface="Nunito"/>
                <a:sym typeface="Nunito"/>
              </a:rPr>
              <a:t> on the </a:t>
            </a:r>
            <a:r>
              <a:rPr b="1" lang="en" sz="1402">
                <a:solidFill>
                  <a:srgbClr val="000000"/>
                </a:solidFill>
                <a:latin typeface="Nunito"/>
                <a:ea typeface="Nunito"/>
                <a:cs typeface="Nunito"/>
                <a:sym typeface="Nunito"/>
              </a:rPr>
              <a:t>test dataset only</a:t>
            </a:r>
            <a:r>
              <a:rPr lang="en" sz="1402">
                <a:solidFill>
                  <a:srgbClr val="000000"/>
                </a:solidFill>
                <a:latin typeface="Nunito"/>
                <a:ea typeface="Nunito"/>
                <a:cs typeface="Nunito"/>
                <a:sym typeface="Nunito"/>
              </a:rPr>
              <a:t>.</a:t>
            </a:r>
            <a:br>
              <a:rPr lang="en" sz="1402">
                <a:solidFill>
                  <a:srgbClr val="000000"/>
                </a:solidFill>
                <a:latin typeface="Nunito"/>
                <a:ea typeface="Nunito"/>
                <a:cs typeface="Nunito"/>
                <a:sym typeface="Nunito"/>
              </a:rPr>
            </a:br>
            <a:endParaRPr sz="1402">
              <a:solidFill>
                <a:srgbClr val="000000"/>
              </a:solidFill>
              <a:latin typeface="Nunito"/>
              <a:ea typeface="Nunito"/>
              <a:cs typeface="Nunito"/>
              <a:sym typeface="Nunito"/>
            </a:endParaRPr>
          </a:p>
          <a:p>
            <a:pPr indent="-317658" lvl="0" marL="457200" rtl="0" algn="l">
              <a:lnSpc>
                <a:spcPct val="95000"/>
              </a:lnSpc>
              <a:spcBef>
                <a:spcPts val="0"/>
              </a:spcBef>
              <a:spcAft>
                <a:spcPts val="0"/>
              </a:spcAft>
              <a:buClr>
                <a:srgbClr val="000000"/>
              </a:buClr>
              <a:buSzPts val="1403"/>
              <a:buFont typeface="Arial"/>
              <a:buChar char="●"/>
            </a:pPr>
            <a:r>
              <a:rPr lang="en" sz="1402">
                <a:solidFill>
                  <a:srgbClr val="000000"/>
                </a:solidFill>
                <a:latin typeface="Nunito"/>
                <a:ea typeface="Nunito"/>
                <a:cs typeface="Nunito"/>
                <a:sym typeface="Nunito"/>
              </a:rPr>
              <a:t>Counted the number of </a:t>
            </a:r>
            <a:r>
              <a:rPr b="1" lang="en" sz="1402">
                <a:solidFill>
                  <a:srgbClr val="000000"/>
                </a:solidFill>
                <a:latin typeface="Nunito"/>
                <a:ea typeface="Nunito"/>
                <a:cs typeface="Nunito"/>
                <a:sym typeface="Nunito"/>
              </a:rPr>
              <a:t>correct predictions</a:t>
            </a:r>
            <a:r>
              <a:rPr lang="en" sz="1402">
                <a:solidFill>
                  <a:srgbClr val="000000"/>
                </a:solidFill>
                <a:latin typeface="Nunito"/>
                <a:ea typeface="Nunito"/>
                <a:cs typeface="Nunito"/>
                <a:sym typeface="Nunito"/>
              </a:rPr>
              <a:t> using a direct equality check between actual and predicted labels.</a:t>
            </a:r>
            <a:br>
              <a:rPr lang="en" sz="1402">
                <a:solidFill>
                  <a:srgbClr val="000000"/>
                </a:solidFill>
                <a:latin typeface="Nunito"/>
                <a:ea typeface="Nunito"/>
                <a:cs typeface="Nunito"/>
                <a:sym typeface="Nunito"/>
              </a:rPr>
            </a:br>
            <a:endParaRPr sz="1402">
              <a:solidFill>
                <a:srgbClr val="000000"/>
              </a:solidFill>
              <a:latin typeface="Nunito"/>
              <a:ea typeface="Nunito"/>
              <a:cs typeface="Nunito"/>
              <a:sym typeface="Nunito"/>
            </a:endParaRPr>
          </a:p>
          <a:p>
            <a:pPr indent="-317658" lvl="0" marL="457200" rtl="0" algn="l">
              <a:lnSpc>
                <a:spcPct val="95000"/>
              </a:lnSpc>
              <a:spcBef>
                <a:spcPts val="0"/>
              </a:spcBef>
              <a:spcAft>
                <a:spcPts val="0"/>
              </a:spcAft>
              <a:buClr>
                <a:srgbClr val="000000"/>
              </a:buClr>
              <a:buSzPts val="1403"/>
              <a:buFont typeface="Arial"/>
              <a:buChar char="●"/>
            </a:pPr>
            <a:r>
              <a:rPr lang="en" sz="1402">
                <a:solidFill>
                  <a:srgbClr val="000000"/>
                </a:solidFill>
                <a:latin typeface="Nunito"/>
                <a:ea typeface="Nunito"/>
                <a:cs typeface="Nunito"/>
                <a:sym typeface="Nunito"/>
              </a:rPr>
              <a:t>Computed test accuracy using the formula:</a:t>
            </a:r>
            <a:br>
              <a:rPr lang="en" sz="1402">
                <a:solidFill>
                  <a:srgbClr val="000000"/>
                </a:solidFill>
                <a:latin typeface="Nunito"/>
                <a:ea typeface="Nunito"/>
                <a:cs typeface="Nunito"/>
                <a:sym typeface="Nunito"/>
              </a:rPr>
            </a:br>
            <a:r>
              <a:rPr lang="en" sz="1402">
                <a:solidFill>
                  <a:srgbClr val="000000"/>
                </a:solidFill>
                <a:latin typeface="Nunito"/>
                <a:ea typeface="Nunito"/>
                <a:cs typeface="Nunito"/>
                <a:sym typeface="Nunito"/>
              </a:rPr>
              <a:t> </a:t>
            </a:r>
            <a:r>
              <a:rPr b="1" lang="en" sz="1402">
                <a:solidFill>
                  <a:srgbClr val="000000"/>
                </a:solidFill>
                <a:latin typeface="Nunito"/>
                <a:ea typeface="Nunito"/>
                <a:cs typeface="Nunito"/>
                <a:sym typeface="Nunito"/>
              </a:rPr>
              <a:t>Accuracy = Correct Predictions / Total Samples</a:t>
            </a:r>
            <a:br>
              <a:rPr b="1" lang="en" sz="1402">
                <a:solidFill>
                  <a:srgbClr val="000000"/>
                </a:solidFill>
                <a:latin typeface="Nunito"/>
                <a:ea typeface="Nunito"/>
                <a:cs typeface="Nunito"/>
                <a:sym typeface="Nunito"/>
              </a:rPr>
            </a:br>
            <a:endParaRPr b="1" sz="1402">
              <a:solidFill>
                <a:srgbClr val="000000"/>
              </a:solidFill>
              <a:latin typeface="Nunito"/>
              <a:ea typeface="Nunito"/>
              <a:cs typeface="Nunito"/>
              <a:sym typeface="Nunito"/>
            </a:endParaRPr>
          </a:p>
          <a:p>
            <a:pPr indent="-317658" lvl="0" marL="457200" rtl="0" algn="l">
              <a:lnSpc>
                <a:spcPct val="95000"/>
              </a:lnSpc>
              <a:spcBef>
                <a:spcPts val="0"/>
              </a:spcBef>
              <a:spcAft>
                <a:spcPts val="0"/>
              </a:spcAft>
              <a:buClr>
                <a:srgbClr val="000000"/>
              </a:buClr>
              <a:buSzPts val="1403"/>
              <a:buFont typeface="Arial"/>
              <a:buChar char="●"/>
            </a:pPr>
            <a:r>
              <a:rPr b="1" lang="en" sz="1402">
                <a:solidFill>
                  <a:srgbClr val="000000"/>
                </a:solidFill>
                <a:latin typeface="Nunito"/>
                <a:ea typeface="Nunito"/>
                <a:cs typeface="Nunito"/>
                <a:sym typeface="Nunito"/>
              </a:rPr>
              <a:t>Correct Predictions:</a:t>
            </a:r>
            <a:r>
              <a:rPr lang="en" sz="1402">
                <a:solidFill>
                  <a:srgbClr val="000000"/>
                </a:solidFill>
                <a:latin typeface="Nunito"/>
                <a:ea typeface="Nunito"/>
                <a:cs typeface="Nunito"/>
                <a:sym typeface="Nunito"/>
              </a:rPr>
              <a:t> 102</a:t>
            </a:r>
            <a:br>
              <a:rPr lang="en" sz="1402">
                <a:solidFill>
                  <a:srgbClr val="000000"/>
                </a:solidFill>
                <a:latin typeface="Nunito"/>
                <a:ea typeface="Nunito"/>
                <a:cs typeface="Nunito"/>
                <a:sym typeface="Nunito"/>
              </a:rPr>
            </a:br>
            <a:endParaRPr sz="1402">
              <a:solidFill>
                <a:srgbClr val="000000"/>
              </a:solidFill>
              <a:latin typeface="Nunito"/>
              <a:ea typeface="Nunito"/>
              <a:cs typeface="Nunito"/>
              <a:sym typeface="Nunito"/>
            </a:endParaRPr>
          </a:p>
          <a:p>
            <a:pPr indent="-317658" lvl="0" marL="457200" rtl="0" algn="l">
              <a:lnSpc>
                <a:spcPct val="95000"/>
              </a:lnSpc>
              <a:spcBef>
                <a:spcPts val="0"/>
              </a:spcBef>
              <a:spcAft>
                <a:spcPts val="0"/>
              </a:spcAft>
              <a:buClr>
                <a:srgbClr val="000000"/>
              </a:buClr>
              <a:buSzPts val="1403"/>
              <a:buFont typeface="Arial"/>
              <a:buChar char="●"/>
            </a:pPr>
            <a:r>
              <a:rPr b="1" lang="en" sz="1402">
                <a:solidFill>
                  <a:srgbClr val="000000"/>
                </a:solidFill>
                <a:latin typeface="Nunito"/>
                <a:ea typeface="Nunito"/>
                <a:cs typeface="Nunito"/>
                <a:sym typeface="Nunito"/>
              </a:rPr>
              <a:t>Total Samples:</a:t>
            </a:r>
            <a:r>
              <a:rPr lang="en" sz="1402">
                <a:solidFill>
                  <a:srgbClr val="000000"/>
                </a:solidFill>
                <a:latin typeface="Nunito"/>
                <a:ea typeface="Nunito"/>
                <a:cs typeface="Nunito"/>
                <a:sym typeface="Nunito"/>
              </a:rPr>
              <a:t> 108</a:t>
            </a:r>
            <a:br>
              <a:rPr lang="en" sz="1402">
                <a:solidFill>
                  <a:srgbClr val="000000"/>
                </a:solidFill>
                <a:latin typeface="Nunito"/>
                <a:ea typeface="Nunito"/>
                <a:cs typeface="Nunito"/>
                <a:sym typeface="Nunito"/>
              </a:rPr>
            </a:br>
            <a:endParaRPr sz="1402">
              <a:solidFill>
                <a:srgbClr val="000000"/>
              </a:solidFill>
              <a:latin typeface="Nunito"/>
              <a:ea typeface="Nunito"/>
              <a:cs typeface="Nunito"/>
              <a:sym typeface="Nunito"/>
            </a:endParaRPr>
          </a:p>
          <a:p>
            <a:pPr indent="-317658" lvl="0" marL="457200" rtl="0" algn="l">
              <a:lnSpc>
                <a:spcPct val="95000"/>
              </a:lnSpc>
              <a:spcBef>
                <a:spcPts val="0"/>
              </a:spcBef>
              <a:spcAft>
                <a:spcPts val="0"/>
              </a:spcAft>
              <a:buClr>
                <a:srgbClr val="000000"/>
              </a:buClr>
              <a:buSzPts val="1403"/>
              <a:buFont typeface="Arial"/>
              <a:buChar char="●"/>
            </a:pPr>
            <a:r>
              <a:rPr b="1" lang="en" sz="1402">
                <a:solidFill>
                  <a:srgbClr val="000000"/>
                </a:solidFill>
                <a:latin typeface="Nunito"/>
                <a:ea typeface="Nunito"/>
                <a:cs typeface="Nunito"/>
                <a:sym typeface="Nunito"/>
              </a:rPr>
              <a:t>Test Accuracy:</a:t>
            </a:r>
            <a:r>
              <a:rPr lang="en" sz="1402">
                <a:solidFill>
                  <a:srgbClr val="000000"/>
                </a:solidFill>
                <a:latin typeface="Nunito"/>
                <a:ea typeface="Nunito"/>
                <a:cs typeface="Nunito"/>
                <a:sym typeface="Nunito"/>
              </a:rPr>
              <a:t> </a:t>
            </a:r>
            <a:r>
              <a:rPr b="1" lang="en" sz="1402">
                <a:solidFill>
                  <a:srgbClr val="000000"/>
                </a:solidFill>
                <a:latin typeface="Nunito"/>
                <a:ea typeface="Nunito"/>
                <a:cs typeface="Nunito"/>
                <a:sym typeface="Nunito"/>
              </a:rPr>
              <a:t>0.94 (94%)</a:t>
            </a:r>
            <a:r>
              <a:rPr lang="en" sz="1402">
                <a:solidFill>
                  <a:srgbClr val="000000"/>
                </a:solidFill>
                <a:latin typeface="Nunito"/>
                <a:ea typeface="Nunito"/>
                <a:cs typeface="Nunito"/>
                <a:sym typeface="Nunito"/>
              </a:rPr>
              <a:t>, indicating strong generalization performance on unseen data.</a:t>
            </a:r>
            <a:endParaRPr sz="1402">
              <a:solidFill>
                <a:srgbClr val="000000"/>
              </a:solidFill>
              <a:latin typeface="Nunito"/>
              <a:ea typeface="Nunito"/>
              <a:cs typeface="Nunito"/>
              <a:sym typeface="Nunito"/>
            </a:endParaRPr>
          </a:p>
          <a:p>
            <a:pPr indent="0" lvl="0" marL="457200" rtl="0" algn="l">
              <a:lnSpc>
                <a:spcPct val="95000"/>
              </a:lnSpc>
              <a:spcBef>
                <a:spcPts val="1200"/>
              </a:spcBef>
              <a:spcAft>
                <a:spcPts val="1200"/>
              </a:spcAft>
              <a:buSzPts val="1018"/>
              <a:buNone/>
            </a:pPr>
            <a:r>
              <a:t/>
            </a:r>
            <a:endParaRPr sz="1117">
              <a:solidFill>
                <a:srgbClr val="000000"/>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0"/>
          <p:cNvSpPr txBox="1"/>
          <p:nvPr>
            <p:ph type="title"/>
          </p:nvPr>
        </p:nvSpPr>
        <p:spPr>
          <a:xfrm>
            <a:off x="438575" y="541125"/>
            <a:ext cx="34980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Regression Analysis</a:t>
            </a:r>
            <a:endParaRPr/>
          </a:p>
        </p:txBody>
      </p:sp>
      <p:sp>
        <p:nvSpPr>
          <p:cNvPr id="258" name="Google Shape;258;p30"/>
          <p:cNvSpPr txBox="1"/>
          <p:nvPr>
            <p:ph idx="1" type="body"/>
          </p:nvPr>
        </p:nvSpPr>
        <p:spPr>
          <a:xfrm>
            <a:off x="438575" y="1217900"/>
            <a:ext cx="8271600" cy="3610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550">
                <a:solidFill>
                  <a:srgbClr val="000000"/>
                </a:solidFill>
                <a:latin typeface="Nunito"/>
                <a:ea typeface="Nunito"/>
                <a:cs typeface="Nunito"/>
                <a:sym typeface="Nunito"/>
              </a:rPr>
              <a:t>Key Findings</a:t>
            </a:r>
            <a:endParaRPr b="1" sz="1550">
              <a:solidFill>
                <a:srgbClr val="000000"/>
              </a:solidFill>
              <a:latin typeface="Nunito"/>
              <a:ea typeface="Nunito"/>
              <a:cs typeface="Nunito"/>
              <a:sym typeface="Nunito"/>
            </a:endParaRPr>
          </a:p>
          <a:p>
            <a:pPr indent="-327025" lvl="0" marL="457200" rtl="0" algn="l">
              <a:spcBef>
                <a:spcPts val="1200"/>
              </a:spcBef>
              <a:spcAft>
                <a:spcPts val="0"/>
              </a:spcAft>
              <a:buClr>
                <a:srgbClr val="000000"/>
              </a:buClr>
              <a:buSzPts val="1550"/>
              <a:buFont typeface="Arial"/>
              <a:buChar char="●"/>
            </a:pPr>
            <a:r>
              <a:rPr b="1" lang="en" sz="1550">
                <a:solidFill>
                  <a:srgbClr val="000000"/>
                </a:solidFill>
                <a:latin typeface="Nunito"/>
                <a:ea typeface="Nunito"/>
                <a:cs typeface="Nunito"/>
                <a:sym typeface="Nunito"/>
              </a:rPr>
              <a:t>Model Significance:</a:t>
            </a:r>
            <a:r>
              <a:rPr lang="en" sz="1550">
                <a:solidFill>
                  <a:srgbClr val="000000"/>
                </a:solidFill>
                <a:latin typeface="Nunito"/>
                <a:ea typeface="Nunito"/>
                <a:cs typeface="Nunito"/>
                <a:sym typeface="Nunito"/>
              </a:rPr>
              <a:t> The overall model is statistically significant. </a:t>
            </a:r>
            <a:r>
              <a:rPr i="1" lang="en" sz="1550">
                <a:solidFill>
                  <a:srgbClr val="000000"/>
                </a:solidFill>
                <a:latin typeface="Nunito"/>
                <a:ea typeface="Nunito"/>
                <a:cs typeface="Nunito"/>
                <a:sym typeface="Nunito"/>
              </a:rPr>
              <a:t>(F-statistic = 37.95, p &lt; .001)</a:t>
            </a:r>
            <a:r>
              <a:rPr lang="en" sz="1550">
                <a:solidFill>
                  <a:srgbClr val="000000"/>
                </a:solidFill>
                <a:latin typeface="Nunito"/>
                <a:ea typeface="Nunito"/>
                <a:cs typeface="Nunito"/>
                <a:sym typeface="Nunito"/>
              </a:rPr>
              <a:t>.</a:t>
            </a:r>
            <a:endParaRPr sz="1550">
              <a:solidFill>
                <a:srgbClr val="000000"/>
              </a:solidFill>
              <a:latin typeface="Nunito"/>
              <a:ea typeface="Nunito"/>
              <a:cs typeface="Nunito"/>
              <a:sym typeface="Nunito"/>
            </a:endParaRPr>
          </a:p>
          <a:p>
            <a:pPr indent="-327025" lvl="0" marL="457200" rtl="0" algn="l">
              <a:spcBef>
                <a:spcPts val="0"/>
              </a:spcBef>
              <a:spcAft>
                <a:spcPts val="0"/>
              </a:spcAft>
              <a:buClr>
                <a:srgbClr val="000000"/>
              </a:buClr>
              <a:buSzPts val="1550"/>
              <a:buFont typeface="Arial"/>
              <a:buChar char="●"/>
            </a:pPr>
            <a:r>
              <a:rPr b="1" lang="en" sz="1550">
                <a:solidFill>
                  <a:srgbClr val="000000"/>
                </a:solidFill>
                <a:latin typeface="Nunito"/>
                <a:ea typeface="Nunito"/>
                <a:cs typeface="Nunito"/>
                <a:sym typeface="Nunito"/>
              </a:rPr>
              <a:t>Positive sentiment has a significant effect:</a:t>
            </a:r>
            <a:r>
              <a:rPr lang="en" sz="1550">
                <a:solidFill>
                  <a:srgbClr val="000000"/>
                </a:solidFill>
                <a:latin typeface="Nunito"/>
                <a:ea typeface="Nunito"/>
                <a:cs typeface="Nunito"/>
                <a:sym typeface="Nunito"/>
              </a:rPr>
              <a:t> Positive posts show </a:t>
            </a:r>
            <a:r>
              <a:rPr b="1" lang="en" sz="1550">
                <a:solidFill>
                  <a:srgbClr val="000000"/>
                </a:solidFill>
                <a:latin typeface="Nunito"/>
                <a:ea typeface="Nunito"/>
                <a:cs typeface="Nunito"/>
                <a:sym typeface="Nunito"/>
              </a:rPr>
              <a:t>higher engagement</a:t>
            </a:r>
            <a:r>
              <a:rPr lang="en" sz="1550">
                <a:solidFill>
                  <a:srgbClr val="000000"/>
                </a:solidFill>
                <a:latin typeface="Nunito"/>
                <a:ea typeface="Nunito"/>
                <a:cs typeface="Nunito"/>
                <a:sym typeface="Nunito"/>
              </a:rPr>
              <a:t> compared to neutral </a:t>
            </a:r>
            <a:r>
              <a:rPr i="1" lang="en" sz="1550">
                <a:solidFill>
                  <a:srgbClr val="000000"/>
                </a:solidFill>
                <a:latin typeface="Nunito"/>
                <a:ea typeface="Nunito"/>
                <a:cs typeface="Nunito"/>
                <a:sym typeface="Nunito"/>
              </a:rPr>
              <a:t>(β = 13.16, p &lt; .001)</a:t>
            </a:r>
            <a:r>
              <a:rPr lang="en" sz="1550">
                <a:solidFill>
                  <a:srgbClr val="000000"/>
                </a:solidFill>
                <a:latin typeface="Nunito"/>
                <a:ea typeface="Nunito"/>
                <a:cs typeface="Nunito"/>
                <a:sym typeface="Nunito"/>
              </a:rPr>
              <a:t>.</a:t>
            </a:r>
            <a:endParaRPr sz="1550">
              <a:solidFill>
                <a:srgbClr val="000000"/>
              </a:solidFill>
              <a:latin typeface="Nunito"/>
              <a:ea typeface="Nunito"/>
              <a:cs typeface="Nunito"/>
              <a:sym typeface="Nunito"/>
            </a:endParaRPr>
          </a:p>
          <a:p>
            <a:pPr indent="-327025" lvl="0" marL="457200" rtl="0" algn="l">
              <a:spcBef>
                <a:spcPts val="0"/>
              </a:spcBef>
              <a:spcAft>
                <a:spcPts val="0"/>
              </a:spcAft>
              <a:buClr>
                <a:srgbClr val="000000"/>
              </a:buClr>
              <a:buSzPts val="1550"/>
              <a:buFont typeface="Arial"/>
              <a:buChar char="●"/>
            </a:pPr>
            <a:r>
              <a:rPr b="1" lang="en" sz="1550">
                <a:solidFill>
                  <a:srgbClr val="000000"/>
                </a:solidFill>
                <a:latin typeface="Nunito"/>
                <a:ea typeface="Nunito"/>
                <a:cs typeface="Nunito"/>
                <a:sym typeface="Nunito"/>
              </a:rPr>
              <a:t>Negative sentiment is not significantly different from Neutral:</a:t>
            </a:r>
            <a:r>
              <a:rPr lang="en" sz="1550">
                <a:solidFill>
                  <a:srgbClr val="000000"/>
                </a:solidFill>
                <a:latin typeface="Nunito"/>
                <a:ea typeface="Nunito"/>
                <a:cs typeface="Nunito"/>
                <a:sym typeface="Nunito"/>
              </a:rPr>
              <a:t> </a:t>
            </a:r>
            <a:r>
              <a:rPr i="1" lang="en" sz="1550">
                <a:solidFill>
                  <a:srgbClr val="000000"/>
                </a:solidFill>
                <a:latin typeface="Nunito"/>
                <a:ea typeface="Nunito"/>
                <a:cs typeface="Nunito"/>
                <a:sym typeface="Nunito"/>
              </a:rPr>
              <a:t>(β = –0.84, p = .769)</a:t>
            </a:r>
            <a:r>
              <a:rPr lang="en" sz="1550">
                <a:solidFill>
                  <a:srgbClr val="000000"/>
                </a:solidFill>
                <a:latin typeface="Nunito"/>
                <a:ea typeface="Nunito"/>
                <a:cs typeface="Nunito"/>
                <a:sym typeface="Nunito"/>
              </a:rPr>
              <a:t>.</a:t>
            </a:r>
            <a:endParaRPr sz="1550">
              <a:solidFill>
                <a:srgbClr val="000000"/>
              </a:solidFill>
              <a:latin typeface="Nunito"/>
              <a:ea typeface="Nunito"/>
              <a:cs typeface="Nunito"/>
              <a:sym typeface="Nunito"/>
            </a:endParaRPr>
          </a:p>
          <a:p>
            <a:pPr indent="-327025" lvl="0" marL="457200" rtl="0" algn="l">
              <a:spcBef>
                <a:spcPts val="0"/>
              </a:spcBef>
              <a:spcAft>
                <a:spcPts val="0"/>
              </a:spcAft>
              <a:buClr>
                <a:srgbClr val="000000"/>
              </a:buClr>
              <a:buSzPts val="1550"/>
              <a:buFont typeface="Arial"/>
              <a:buChar char="●"/>
            </a:pPr>
            <a:r>
              <a:rPr b="1" lang="en" sz="1550">
                <a:solidFill>
                  <a:srgbClr val="000000"/>
                </a:solidFill>
                <a:latin typeface="Nunito"/>
                <a:ea typeface="Nunito"/>
                <a:cs typeface="Nunito"/>
                <a:sym typeface="Nunito"/>
              </a:rPr>
              <a:t>R² = 0.096: </a:t>
            </a:r>
            <a:r>
              <a:rPr lang="en" sz="1550">
                <a:solidFill>
                  <a:srgbClr val="000000"/>
                </a:solidFill>
                <a:latin typeface="Nunito"/>
                <a:ea typeface="Nunito"/>
                <a:cs typeface="Nunito"/>
                <a:sym typeface="Nunito"/>
              </a:rPr>
              <a:t>Sentiment explains about </a:t>
            </a:r>
            <a:r>
              <a:rPr b="1" lang="en" sz="1550">
                <a:solidFill>
                  <a:srgbClr val="000000"/>
                </a:solidFill>
                <a:latin typeface="Nunito"/>
                <a:ea typeface="Nunito"/>
                <a:cs typeface="Nunito"/>
                <a:sym typeface="Nunito"/>
              </a:rPr>
              <a:t>9.6%</a:t>
            </a:r>
            <a:r>
              <a:rPr lang="en" sz="1550">
                <a:solidFill>
                  <a:srgbClr val="000000"/>
                </a:solidFill>
                <a:latin typeface="Nunito"/>
                <a:ea typeface="Nunito"/>
                <a:cs typeface="Nunito"/>
                <a:sym typeface="Nunito"/>
              </a:rPr>
              <a:t> of the variance in engagement,  meaning sentiment matters, but other factors also influence engagement.</a:t>
            </a:r>
            <a:endParaRPr sz="1550">
              <a:solidFill>
                <a:srgbClr val="000000"/>
              </a:solidFill>
              <a:latin typeface="Nunito"/>
              <a:ea typeface="Nunito"/>
              <a:cs typeface="Nunito"/>
              <a:sym typeface="Nunito"/>
            </a:endParaRPr>
          </a:p>
          <a:p>
            <a:pPr indent="0" lvl="0" marL="0" rtl="0" algn="l">
              <a:spcBef>
                <a:spcPts val="1200"/>
              </a:spcBef>
              <a:spcAft>
                <a:spcPts val="0"/>
              </a:spcAft>
              <a:buNone/>
            </a:pPr>
            <a:r>
              <a:rPr lang="en" sz="1550">
                <a:solidFill>
                  <a:srgbClr val="000000"/>
                </a:solidFill>
                <a:latin typeface="Nunito"/>
                <a:ea typeface="Nunito"/>
                <a:cs typeface="Nunito"/>
                <a:sym typeface="Nunito"/>
              </a:rPr>
              <a:t>Overall, positive posts tend to receive higher engagement, whereas negative posts perform similarly to neutral content. Sentiment demonstrates a measurable though moderate relationship with engagement behavior.</a:t>
            </a:r>
            <a:endParaRPr sz="1550">
              <a:solidFill>
                <a:srgbClr val="000000"/>
              </a:solidFill>
              <a:latin typeface="Nunito"/>
              <a:ea typeface="Nunito"/>
              <a:cs typeface="Nunito"/>
              <a:sym typeface="Nunito"/>
            </a:endParaRPr>
          </a:p>
          <a:p>
            <a:pPr indent="0" lvl="0" marL="0" rtl="0" algn="l">
              <a:spcBef>
                <a:spcPts val="1400"/>
              </a:spcBef>
              <a:spcAft>
                <a:spcPts val="0"/>
              </a:spcAft>
              <a:buNone/>
            </a:pPr>
            <a:r>
              <a:t/>
            </a:r>
            <a:endParaRPr sz="1550">
              <a:solidFill>
                <a:srgbClr val="000000"/>
              </a:solidFill>
              <a:latin typeface="Nunito"/>
              <a:ea typeface="Nunito"/>
              <a:cs typeface="Nunito"/>
              <a:sym typeface="Nunito"/>
            </a:endParaRPr>
          </a:p>
          <a:p>
            <a:pPr indent="0" lvl="0" marL="0" rtl="0" algn="l">
              <a:spcBef>
                <a:spcPts val="400"/>
              </a:spcBef>
              <a:spcAft>
                <a:spcPts val="1200"/>
              </a:spcAft>
              <a:buNone/>
            </a:pPr>
            <a:r>
              <a:t/>
            </a:r>
            <a:endParaRPr sz="1550">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1"/>
          <p:cNvSpPr txBox="1"/>
          <p:nvPr>
            <p:ph type="title"/>
          </p:nvPr>
        </p:nvSpPr>
        <p:spPr>
          <a:xfrm>
            <a:off x="713950" y="317025"/>
            <a:ext cx="7505700" cy="56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264" name="Google Shape;264;p31"/>
          <p:cNvSpPr txBox="1"/>
          <p:nvPr>
            <p:ph idx="1" type="body"/>
          </p:nvPr>
        </p:nvSpPr>
        <p:spPr>
          <a:xfrm>
            <a:off x="620400" y="1098250"/>
            <a:ext cx="7903200" cy="3318900"/>
          </a:xfrm>
          <a:prstGeom prst="rect">
            <a:avLst/>
          </a:prstGeom>
        </p:spPr>
        <p:txBody>
          <a:bodyPr anchorCtr="0" anchor="t" bIns="91425" lIns="91425" spcFirstLastPara="1" rIns="91425" wrap="square" tIns="91425">
            <a:noAutofit/>
          </a:bodyPr>
          <a:lstStyle/>
          <a:p>
            <a:pPr indent="-355600" lvl="0" marL="457200" rtl="0" algn="l">
              <a:lnSpc>
                <a:spcPct val="100000"/>
              </a:lnSpc>
              <a:spcBef>
                <a:spcPts val="1200"/>
              </a:spcBef>
              <a:spcAft>
                <a:spcPts val="0"/>
              </a:spcAft>
              <a:buSzPts val="2000"/>
              <a:buFont typeface="Nunito"/>
              <a:buChar char="●"/>
            </a:pPr>
            <a:r>
              <a:rPr lang="en">
                <a:solidFill>
                  <a:srgbClr val="000000"/>
                </a:solidFill>
                <a:latin typeface="Nunito"/>
                <a:ea typeface="Nunito"/>
                <a:cs typeface="Nunito"/>
                <a:sym typeface="Nunito"/>
              </a:rPr>
              <a:t>The fine-tuned DistilBERT model effectively classifies social media posts into </a:t>
            </a:r>
            <a:r>
              <a:rPr b="1" lang="en">
                <a:solidFill>
                  <a:srgbClr val="000000"/>
                </a:solidFill>
                <a:latin typeface="Nunito"/>
                <a:ea typeface="Nunito"/>
                <a:cs typeface="Nunito"/>
                <a:sym typeface="Nunito"/>
              </a:rPr>
              <a:t>Positive, Negative, and Neutral</a:t>
            </a:r>
            <a:r>
              <a:rPr lang="en">
                <a:solidFill>
                  <a:srgbClr val="000000"/>
                </a:solidFill>
                <a:latin typeface="Nunito"/>
                <a:ea typeface="Nunito"/>
                <a:cs typeface="Nunito"/>
                <a:sym typeface="Nunito"/>
              </a:rPr>
              <a:t> sentiments.</a:t>
            </a:r>
            <a:br>
              <a:rPr lang="en">
                <a:solidFill>
                  <a:srgbClr val="000000"/>
                </a:solidFill>
                <a:latin typeface="Nunito"/>
                <a:ea typeface="Nunito"/>
                <a:cs typeface="Nunito"/>
                <a:sym typeface="Nunito"/>
              </a:rPr>
            </a:br>
            <a:endParaRPr>
              <a:solidFill>
                <a:srgbClr val="000000"/>
              </a:solidFill>
              <a:latin typeface="Nunito"/>
              <a:ea typeface="Nunito"/>
              <a:cs typeface="Nunito"/>
              <a:sym typeface="Nunito"/>
            </a:endParaRPr>
          </a:p>
          <a:p>
            <a:pPr indent="-355600" lvl="0" marL="457200" rtl="0" algn="l">
              <a:lnSpc>
                <a:spcPct val="100000"/>
              </a:lnSpc>
              <a:spcBef>
                <a:spcPts val="0"/>
              </a:spcBef>
              <a:spcAft>
                <a:spcPts val="0"/>
              </a:spcAft>
              <a:buSzPts val="2000"/>
              <a:buFont typeface="Nunito"/>
              <a:buChar char="●"/>
            </a:pPr>
            <a:r>
              <a:rPr lang="en">
                <a:solidFill>
                  <a:srgbClr val="000000"/>
                </a:solidFill>
                <a:latin typeface="Nunito"/>
                <a:ea typeface="Nunito"/>
                <a:cs typeface="Nunito"/>
                <a:sym typeface="Nunito"/>
              </a:rPr>
              <a:t>Model performance is strongest on </a:t>
            </a:r>
            <a:r>
              <a:rPr b="1" lang="en">
                <a:solidFill>
                  <a:srgbClr val="000000"/>
                </a:solidFill>
                <a:latin typeface="Nunito"/>
                <a:ea typeface="Nunito"/>
                <a:cs typeface="Nunito"/>
                <a:sym typeface="Nunito"/>
              </a:rPr>
              <a:t>dominant classes</a:t>
            </a:r>
            <a:r>
              <a:rPr lang="en">
                <a:solidFill>
                  <a:srgbClr val="000000"/>
                </a:solidFill>
                <a:latin typeface="Nunito"/>
                <a:ea typeface="Nunito"/>
                <a:cs typeface="Nunito"/>
                <a:sym typeface="Nunito"/>
              </a:rPr>
              <a:t>, particularly </a:t>
            </a:r>
            <a:r>
              <a:rPr b="1" lang="en">
                <a:solidFill>
                  <a:srgbClr val="000000"/>
                </a:solidFill>
                <a:latin typeface="Nunito"/>
                <a:ea typeface="Nunito"/>
                <a:cs typeface="Nunito"/>
                <a:sym typeface="Nunito"/>
              </a:rPr>
              <a:t>positive and negative</a:t>
            </a:r>
            <a:r>
              <a:rPr lang="en">
                <a:solidFill>
                  <a:srgbClr val="000000"/>
                </a:solidFill>
                <a:latin typeface="Nunito"/>
                <a:ea typeface="Nunito"/>
                <a:cs typeface="Nunito"/>
                <a:sym typeface="Nunito"/>
              </a:rPr>
              <a:t> posts.</a:t>
            </a:r>
            <a:br>
              <a:rPr lang="en">
                <a:solidFill>
                  <a:srgbClr val="000000"/>
                </a:solidFill>
                <a:latin typeface="Nunito"/>
                <a:ea typeface="Nunito"/>
                <a:cs typeface="Nunito"/>
                <a:sym typeface="Nunito"/>
              </a:rPr>
            </a:br>
            <a:endParaRPr>
              <a:solidFill>
                <a:srgbClr val="000000"/>
              </a:solidFill>
              <a:latin typeface="Nunito"/>
              <a:ea typeface="Nunito"/>
              <a:cs typeface="Nunito"/>
              <a:sym typeface="Nunito"/>
            </a:endParaRPr>
          </a:p>
          <a:p>
            <a:pPr indent="-355600" lvl="0" marL="457200" rtl="0" algn="l">
              <a:lnSpc>
                <a:spcPct val="100000"/>
              </a:lnSpc>
              <a:spcBef>
                <a:spcPts val="0"/>
              </a:spcBef>
              <a:spcAft>
                <a:spcPts val="0"/>
              </a:spcAft>
              <a:buSzPts val="2000"/>
              <a:buFont typeface="Nunito"/>
              <a:buChar char="●"/>
            </a:pPr>
            <a:r>
              <a:rPr lang="en">
                <a:solidFill>
                  <a:srgbClr val="000000"/>
                </a:solidFill>
                <a:latin typeface="Nunito"/>
                <a:ea typeface="Nunito"/>
                <a:cs typeface="Nunito"/>
                <a:sym typeface="Nunito"/>
              </a:rPr>
              <a:t>Statistical analysis shows a </a:t>
            </a:r>
            <a:r>
              <a:rPr b="1" lang="en">
                <a:solidFill>
                  <a:srgbClr val="000000"/>
                </a:solidFill>
                <a:latin typeface="Nunito"/>
                <a:ea typeface="Nunito"/>
                <a:cs typeface="Nunito"/>
                <a:sym typeface="Nunito"/>
              </a:rPr>
              <a:t>significant relationship between sentiment and engagement</a:t>
            </a:r>
            <a:r>
              <a:rPr lang="en">
                <a:solidFill>
                  <a:srgbClr val="000000"/>
                </a:solidFill>
                <a:latin typeface="Nunito"/>
                <a:ea typeface="Nunito"/>
                <a:cs typeface="Nunito"/>
                <a:sym typeface="Nunito"/>
              </a:rPr>
              <a:t>, with </a:t>
            </a:r>
            <a:r>
              <a:rPr b="1" lang="en">
                <a:solidFill>
                  <a:srgbClr val="000000"/>
                </a:solidFill>
                <a:latin typeface="Nunito"/>
                <a:ea typeface="Nunito"/>
                <a:cs typeface="Nunito"/>
                <a:sym typeface="Nunito"/>
              </a:rPr>
              <a:t>positive posts generating the highest likes and retweets</a:t>
            </a:r>
            <a:r>
              <a:rPr lang="en">
                <a:solidFill>
                  <a:srgbClr val="000000"/>
                </a:solidFill>
                <a:latin typeface="Nunito"/>
                <a:ea typeface="Nunito"/>
                <a:cs typeface="Nunito"/>
                <a:sym typeface="Nunito"/>
              </a:rPr>
              <a:t>.</a:t>
            </a:r>
            <a:br>
              <a:rPr lang="en">
                <a:solidFill>
                  <a:srgbClr val="000000"/>
                </a:solidFill>
                <a:latin typeface="Nunito"/>
                <a:ea typeface="Nunito"/>
                <a:cs typeface="Nunito"/>
                <a:sym typeface="Nunito"/>
              </a:rPr>
            </a:br>
            <a:endParaRPr>
              <a:solidFill>
                <a:srgbClr val="000000"/>
              </a:solidFill>
              <a:latin typeface="Nunito"/>
              <a:ea typeface="Nunito"/>
              <a:cs typeface="Nunito"/>
              <a:sym typeface="Nunito"/>
            </a:endParaRPr>
          </a:p>
          <a:p>
            <a:pPr indent="-355600" lvl="0" marL="457200" rtl="0" algn="l">
              <a:lnSpc>
                <a:spcPct val="100000"/>
              </a:lnSpc>
              <a:spcBef>
                <a:spcPts val="0"/>
              </a:spcBef>
              <a:spcAft>
                <a:spcPts val="0"/>
              </a:spcAft>
              <a:buSzPts val="2000"/>
              <a:buFont typeface="Nunito"/>
              <a:buChar char="●"/>
            </a:pPr>
            <a:r>
              <a:rPr lang="en">
                <a:solidFill>
                  <a:srgbClr val="000000"/>
                </a:solidFill>
                <a:latin typeface="Nunito"/>
                <a:ea typeface="Nunito"/>
                <a:cs typeface="Nunito"/>
                <a:sym typeface="Nunito"/>
              </a:rPr>
              <a:t>Despite this, a </a:t>
            </a:r>
            <a:r>
              <a:rPr b="1" lang="en">
                <a:solidFill>
                  <a:srgbClr val="000000"/>
                </a:solidFill>
                <a:latin typeface="Nunito"/>
                <a:ea typeface="Nunito"/>
                <a:cs typeface="Nunito"/>
                <a:sym typeface="Nunito"/>
              </a:rPr>
              <a:t>low R² value (0.096)</a:t>
            </a:r>
            <a:r>
              <a:rPr lang="en">
                <a:solidFill>
                  <a:srgbClr val="000000"/>
                </a:solidFill>
                <a:latin typeface="Nunito"/>
                <a:ea typeface="Nunito"/>
                <a:cs typeface="Nunito"/>
                <a:sym typeface="Nunito"/>
              </a:rPr>
              <a:t> indicates that sentiment </a:t>
            </a:r>
            <a:r>
              <a:rPr b="1" lang="en">
                <a:solidFill>
                  <a:srgbClr val="000000"/>
                </a:solidFill>
                <a:latin typeface="Nunito"/>
                <a:ea typeface="Nunito"/>
                <a:cs typeface="Nunito"/>
                <a:sym typeface="Nunito"/>
              </a:rPr>
              <a:t>explains only a small proportion</a:t>
            </a:r>
            <a:r>
              <a:rPr lang="en">
                <a:solidFill>
                  <a:srgbClr val="000000"/>
                </a:solidFill>
                <a:latin typeface="Nunito"/>
                <a:ea typeface="Nunito"/>
                <a:cs typeface="Nunito"/>
                <a:sym typeface="Nunito"/>
              </a:rPr>
              <a:t> of engagement variability.</a:t>
            </a:r>
            <a:br>
              <a:rPr lang="en">
                <a:solidFill>
                  <a:srgbClr val="000000"/>
                </a:solidFill>
                <a:latin typeface="Nunito"/>
                <a:ea typeface="Nunito"/>
                <a:cs typeface="Nunito"/>
                <a:sym typeface="Nunito"/>
              </a:rPr>
            </a:br>
            <a:endParaRPr>
              <a:solidFill>
                <a:srgbClr val="000000"/>
              </a:solidFill>
              <a:latin typeface="Nunito"/>
              <a:ea typeface="Nunito"/>
              <a:cs typeface="Nunito"/>
              <a:sym typeface="Nunito"/>
            </a:endParaRPr>
          </a:p>
          <a:p>
            <a:pPr indent="-342900" lvl="0" marL="457200" rtl="0" algn="l">
              <a:lnSpc>
                <a:spcPct val="100000"/>
              </a:lnSpc>
              <a:spcBef>
                <a:spcPts val="0"/>
              </a:spcBef>
              <a:spcAft>
                <a:spcPts val="0"/>
              </a:spcAft>
              <a:buSzPts val="1800"/>
              <a:buFont typeface="Nunito"/>
              <a:buChar char="●"/>
            </a:pPr>
            <a:r>
              <a:rPr b="1" lang="en">
                <a:solidFill>
                  <a:srgbClr val="000000"/>
                </a:solidFill>
                <a:latin typeface="Nunito"/>
                <a:ea typeface="Nunito"/>
                <a:cs typeface="Nunito"/>
                <a:sym typeface="Nunito"/>
              </a:rPr>
              <a:t>Neutral sentiment</a:t>
            </a:r>
            <a:r>
              <a:rPr lang="en">
                <a:solidFill>
                  <a:srgbClr val="000000"/>
                </a:solidFill>
                <a:latin typeface="Nunito"/>
                <a:ea typeface="Nunito"/>
                <a:cs typeface="Nunito"/>
                <a:sym typeface="Nunito"/>
              </a:rPr>
              <a:t> remains the hardest category to classify due to its </a:t>
            </a:r>
            <a:r>
              <a:rPr b="1" lang="en">
                <a:solidFill>
                  <a:srgbClr val="000000"/>
                </a:solidFill>
                <a:latin typeface="Nunito"/>
                <a:ea typeface="Nunito"/>
                <a:cs typeface="Nunito"/>
                <a:sym typeface="Nunito"/>
              </a:rPr>
              <a:t>ambiguity</a:t>
            </a:r>
            <a:r>
              <a:rPr lang="en">
                <a:solidFill>
                  <a:srgbClr val="000000"/>
                </a:solidFill>
                <a:latin typeface="Nunito"/>
                <a:ea typeface="Nunito"/>
                <a:cs typeface="Nunito"/>
                <a:sym typeface="Nunito"/>
              </a:rPr>
              <a:t> and </a:t>
            </a:r>
            <a:r>
              <a:rPr b="1" lang="en">
                <a:solidFill>
                  <a:srgbClr val="000000"/>
                </a:solidFill>
                <a:latin typeface="Nunito"/>
                <a:ea typeface="Nunito"/>
                <a:cs typeface="Nunito"/>
                <a:sym typeface="Nunito"/>
              </a:rPr>
              <a:t>lower representation</a:t>
            </a:r>
            <a:r>
              <a:rPr lang="en">
                <a:solidFill>
                  <a:srgbClr val="000000"/>
                </a:solidFill>
                <a:latin typeface="Nunito"/>
                <a:ea typeface="Nunito"/>
                <a:cs typeface="Nunito"/>
                <a:sym typeface="Nunito"/>
              </a:rPr>
              <a:t> in the dataset.</a:t>
            </a:r>
            <a:br>
              <a:rPr lang="en" sz="1100">
                <a:solidFill>
                  <a:srgbClr val="000000"/>
                </a:solidFill>
                <a:latin typeface="Nunito"/>
                <a:ea typeface="Nunito"/>
                <a:cs typeface="Nunito"/>
                <a:sym typeface="Nunito"/>
              </a:rPr>
            </a:br>
            <a:endParaRPr sz="1100">
              <a:solidFill>
                <a:srgbClr val="000000"/>
              </a:solidFill>
              <a:latin typeface="Nunito"/>
              <a:ea typeface="Nunito"/>
              <a:cs typeface="Nunito"/>
              <a:sym typeface="Nunito"/>
            </a:endParaRPr>
          </a:p>
          <a:p>
            <a:pPr indent="0" lvl="0" marL="0" rtl="0" algn="l">
              <a:lnSpc>
                <a:spcPct val="100000"/>
              </a:lnSpc>
              <a:spcBef>
                <a:spcPts val="1200"/>
              </a:spcBef>
              <a:spcAft>
                <a:spcPts val="0"/>
              </a:spcAft>
              <a:buNone/>
            </a:pPr>
            <a:r>
              <a:t/>
            </a:r>
            <a:endParaRPr sz="1100">
              <a:solidFill>
                <a:srgbClr val="000000"/>
              </a:solidFill>
              <a:latin typeface="Nunito"/>
              <a:ea typeface="Nunito"/>
              <a:cs typeface="Nunito"/>
              <a:sym typeface="Nunito"/>
            </a:endParaRPr>
          </a:p>
          <a:p>
            <a:pPr indent="0" lvl="0" marL="457200" rtl="0" algn="l">
              <a:lnSpc>
                <a:spcPct val="115000"/>
              </a:lnSpc>
              <a:spcBef>
                <a:spcPts val="1200"/>
              </a:spcBef>
              <a:spcAft>
                <a:spcPts val="0"/>
              </a:spcAft>
              <a:buNone/>
            </a:pPr>
            <a:r>
              <a:rPr lang="en" sz="1800">
                <a:latin typeface="Nunito"/>
                <a:ea typeface="Nunito"/>
                <a:cs typeface="Nunito"/>
                <a:sym typeface="Nunito"/>
              </a:rPr>
              <a:t>.</a:t>
            </a:r>
            <a:endParaRPr sz="1800">
              <a:latin typeface="Nunito"/>
              <a:ea typeface="Nunito"/>
              <a:cs typeface="Nunito"/>
              <a:sym typeface="Nunito"/>
            </a:endParaRPr>
          </a:p>
          <a:p>
            <a:pPr indent="0" lvl="0" marL="457200" rtl="0" algn="l">
              <a:lnSpc>
                <a:spcPct val="75000"/>
              </a:lnSpc>
              <a:spcBef>
                <a:spcPts val="1200"/>
              </a:spcBef>
              <a:spcAft>
                <a:spcPts val="0"/>
              </a:spcAft>
              <a:buSzPts val="533"/>
              <a:buNone/>
            </a:pPr>
            <a:r>
              <a:t/>
            </a:r>
            <a:endParaRPr sz="1800">
              <a:latin typeface="Nunito"/>
              <a:ea typeface="Nunito"/>
              <a:cs typeface="Nunito"/>
              <a:sym typeface="Nunito"/>
            </a:endParaRPr>
          </a:p>
          <a:p>
            <a:pPr indent="0" lvl="0" marL="457200" rtl="0" algn="l">
              <a:lnSpc>
                <a:spcPct val="75000"/>
              </a:lnSpc>
              <a:spcBef>
                <a:spcPts val="1200"/>
              </a:spcBef>
              <a:spcAft>
                <a:spcPts val="0"/>
              </a:spcAft>
              <a:buSzPts val="533"/>
              <a:buNone/>
            </a:pPr>
            <a:r>
              <a:t/>
            </a:r>
            <a:endParaRPr sz="1800"/>
          </a:p>
          <a:p>
            <a:pPr indent="0" lvl="0" marL="457200" rtl="0" algn="l">
              <a:lnSpc>
                <a:spcPct val="75000"/>
              </a:lnSpc>
              <a:spcBef>
                <a:spcPts val="1200"/>
              </a:spcBef>
              <a:spcAft>
                <a:spcPts val="1200"/>
              </a:spcAft>
              <a:buSzPts val="533"/>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2"/>
          <p:cNvSpPr txBox="1"/>
          <p:nvPr>
            <p:ph type="title"/>
          </p:nvPr>
        </p:nvSpPr>
        <p:spPr>
          <a:xfrm>
            <a:off x="620400" y="317025"/>
            <a:ext cx="7903200" cy="56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Improvement</a:t>
            </a:r>
            <a:endParaRPr/>
          </a:p>
        </p:txBody>
      </p:sp>
      <p:sp>
        <p:nvSpPr>
          <p:cNvPr id="270" name="Google Shape;270;p32"/>
          <p:cNvSpPr txBox="1"/>
          <p:nvPr>
            <p:ph idx="1" type="body"/>
          </p:nvPr>
        </p:nvSpPr>
        <p:spPr>
          <a:xfrm>
            <a:off x="620400" y="879525"/>
            <a:ext cx="7903200" cy="36999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1200"/>
              </a:spcBef>
              <a:spcAft>
                <a:spcPts val="0"/>
              </a:spcAft>
              <a:buSzPts val="1800"/>
              <a:buFont typeface="Nunito"/>
              <a:buChar char="●"/>
            </a:pPr>
            <a:r>
              <a:rPr b="1" lang="en" sz="1100">
                <a:solidFill>
                  <a:srgbClr val="000000"/>
                </a:solidFill>
                <a:latin typeface="Arial"/>
                <a:ea typeface="Arial"/>
                <a:cs typeface="Arial"/>
                <a:sym typeface="Arial"/>
              </a:rPr>
              <a:t>Expand the dataset across all sentiment categories</a:t>
            </a:r>
            <a:r>
              <a:rPr lang="en" sz="1100">
                <a:solidFill>
                  <a:srgbClr val="000000"/>
                </a:solidFill>
                <a:latin typeface="Arial"/>
                <a:ea typeface="Arial"/>
                <a:cs typeface="Arial"/>
                <a:sym typeface="Arial"/>
              </a:rPr>
              <a:t>, especially Neutral, to improve class balance, reduce bias, and strengthen model generalization.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342900" lvl="0" marL="457200" rtl="0" algn="l">
              <a:lnSpc>
                <a:spcPct val="100000"/>
              </a:lnSpc>
              <a:spcBef>
                <a:spcPts val="0"/>
              </a:spcBef>
              <a:spcAft>
                <a:spcPts val="0"/>
              </a:spcAft>
              <a:buSzPts val="1800"/>
              <a:buFont typeface="Nunito"/>
              <a:buChar char="●"/>
            </a:pPr>
            <a:r>
              <a:rPr b="1" lang="en" sz="1100">
                <a:solidFill>
                  <a:srgbClr val="000000"/>
                </a:solidFill>
                <a:latin typeface="Arial"/>
                <a:ea typeface="Arial"/>
                <a:cs typeface="Arial"/>
                <a:sym typeface="Arial"/>
              </a:rPr>
              <a:t>Improve sentiment label mapping</a:t>
            </a:r>
            <a:r>
              <a:rPr lang="en" sz="1100">
                <a:solidFill>
                  <a:srgbClr val="000000"/>
                </a:solidFill>
                <a:latin typeface="Arial"/>
                <a:ea typeface="Arial"/>
                <a:cs typeface="Arial"/>
                <a:sym typeface="Arial"/>
              </a:rPr>
              <a:t> by refining how text is categorized into Positive, Negative, and Neutral to reduce ambiguity and misclassification.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342900" lvl="0" marL="457200" rtl="0" algn="l">
              <a:lnSpc>
                <a:spcPct val="100000"/>
              </a:lnSpc>
              <a:spcBef>
                <a:spcPts val="0"/>
              </a:spcBef>
              <a:spcAft>
                <a:spcPts val="0"/>
              </a:spcAft>
              <a:buSzPts val="1800"/>
              <a:buFont typeface="Nunito"/>
              <a:buChar char="●"/>
            </a:pPr>
            <a:r>
              <a:rPr b="1" lang="en" sz="1100">
                <a:solidFill>
                  <a:srgbClr val="000000"/>
                </a:solidFill>
                <a:latin typeface="Arial"/>
                <a:ea typeface="Arial"/>
                <a:cs typeface="Arial"/>
                <a:sym typeface="Arial"/>
              </a:rPr>
              <a:t>Explore advanced feature extraction techniques</a:t>
            </a:r>
            <a:r>
              <a:rPr lang="en" sz="1100">
                <a:solidFill>
                  <a:srgbClr val="000000"/>
                </a:solidFill>
                <a:latin typeface="Arial"/>
                <a:ea typeface="Arial"/>
                <a:cs typeface="Arial"/>
                <a:sym typeface="Arial"/>
              </a:rPr>
              <a:t> (e.g., contextual embeddings, linguistic cues) to better capture subtle tone shifts that make Neutral posts challenging to classify.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342900" lvl="0" marL="457200" rtl="0" algn="l">
              <a:lnSpc>
                <a:spcPct val="100000"/>
              </a:lnSpc>
              <a:spcBef>
                <a:spcPts val="0"/>
              </a:spcBef>
              <a:spcAft>
                <a:spcPts val="0"/>
              </a:spcAft>
              <a:buSzPts val="1800"/>
              <a:buFont typeface="Nunito"/>
              <a:buChar char="●"/>
            </a:pPr>
            <a:r>
              <a:rPr b="1" lang="en" sz="1100">
                <a:solidFill>
                  <a:srgbClr val="000000"/>
                </a:solidFill>
                <a:latin typeface="Arial"/>
                <a:ea typeface="Arial"/>
                <a:cs typeface="Arial"/>
                <a:sym typeface="Arial"/>
              </a:rPr>
              <a:t>Incorporate multimodal data</a:t>
            </a:r>
            <a:r>
              <a:rPr lang="en" sz="1100">
                <a:solidFill>
                  <a:srgbClr val="000000"/>
                </a:solidFill>
                <a:latin typeface="Arial"/>
                <a:ea typeface="Arial"/>
                <a:cs typeface="Arial"/>
                <a:sym typeface="Arial"/>
              </a:rPr>
              <a:t>, such as images, hashtags, and emojis, to provide richer context and improve classification accuracy in real-world social media settings.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342900" lvl="0" marL="457200" rtl="0" algn="l">
              <a:lnSpc>
                <a:spcPct val="100000"/>
              </a:lnSpc>
              <a:spcBef>
                <a:spcPts val="0"/>
              </a:spcBef>
              <a:spcAft>
                <a:spcPts val="0"/>
              </a:spcAft>
              <a:buSzPts val="1800"/>
              <a:buFont typeface="Nunito"/>
              <a:buChar char="●"/>
            </a:pPr>
            <a:r>
              <a:rPr b="1" lang="en" sz="1100">
                <a:solidFill>
                  <a:srgbClr val="000000"/>
                </a:solidFill>
                <a:latin typeface="Arial"/>
                <a:ea typeface="Arial"/>
                <a:cs typeface="Arial"/>
                <a:sym typeface="Arial"/>
              </a:rPr>
              <a:t>Experiment with more powerful transformer architectures</a:t>
            </a:r>
            <a:r>
              <a:rPr lang="en" sz="1100">
                <a:solidFill>
                  <a:srgbClr val="000000"/>
                </a:solidFill>
                <a:latin typeface="Arial"/>
                <a:ea typeface="Arial"/>
                <a:cs typeface="Arial"/>
                <a:sym typeface="Arial"/>
              </a:rPr>
              <a:t> (e.g., RoBERTa, DeBERTa, GPT-based classifiers) or </a:t>
            </a:r>
            <a:r>
              <a:rPr b="1" lang="en" sz="1100">
                <a:solidFill>
                  <a:srgbClr val="000000"/>
                </a:solidFill>
                <a:latin typeface="Arial"/>
                <a:ea typeface="Arial"/>
                <a:cs typeface="Arial"/>
                <a:sym typeface="Arial"/>
              </a:rPr>
              <a:t>ensemble methods</a:t>
            </a:r>
            <a:r>
              <a:rPr lang="en" sz="1100">
                <a:solidFill>
                  <a:srgbClr val="000000"/>
                </a:solidFill>
                <a:latin typeface="Arial"/>
                <a:ea typeface="Arial"/>
                <a:cs typeface="Arial"/>
                <a:sym typeface="Arial"/>
              </a:rPr>
              <a:t> to boost performance.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342900" lvl="0" marL="457200" rtl="0" algn="l">
              <a:lnSpc>
                <a:spcPct val="100000"/>
              </a:lnSpc>
              <a:spcBef>
                <a:spcPts val="0"/>
              </a:spcBef>
              <a:spcAft>
                <a:spcPts val="0"/>
              </a:spcAft>
              <a:buSzPts val="1800"/>
              <a:buFont typeface="Nunito"/>
              <a:buChar char="●"/>
            </a:pPr>
            <a:r>
              <a:rPr b="1" lang="en" sz="1100">
                <a:solidFill>
                  <a:srgbClr val="000000"/>
                </a:solidFill>
                <a:latin typeface="Arial"/>
                <a:ea typeface="Arial"/>
                <a:cs typeface="Arial"/>
                <a:sym typeface="Arial"/>
              </a:rPr>
              <a:t>Conduct deeper engagement analysis</a:t>
            </a:r>
            <a:r>
              <a:rPr lang="en" sz="1100">
                <a:solidFill>
                  <a:srgbClr val="000000"/>
                </a:solidFill>
                <a:latin typeface="Arial"/>
                <a:ea typeface="Arial"/>
                <a:cs typeface="Arial"/>
                <a:sym typeface="Arial"/>
              </a:rPr>
              <a:t> using additional predictors—such as posting time, account influence, follower count, or topic—to increase explanatory power beyond sentiment alone.</a:t>
            </a:r>
            <a:endParaRPr sz="11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t/>
            </a:r>
            <a:endParaRPr b="1" sz="1100">
              <a:solidFill>
                <a:srgbClr val="000000"/>
              </a:solidFill>
              <a:latin typeface="Arial"/>
              <a:ea typeface="Arial"/>
              <a:cs typeface="Arial"/>
              <a:sym typeface="Arial"/>
            </a:endParaRPr>
          </a:p>
          <a:p>
            <a:pPr indent="0" lvl="0" marL="457200" rtl="0" algn="l">
              <a:lnSpc>
                <a:spcPct val="100000"/>
              </a:lnSpc>
              <a:spcBef>
                <a:spcPts val="1200"/>
              </a:spcBef>
              <a:spcAft>
                <a:spcPts val="0"/>
              </a:spcAft>
              <a:buNone/>
            </a:pPr>
            <a:r>
              <a:t/>
            </a:r>
            <a:endParaRPr sz="1100">
              <a:solidFill>
                <a:srgbClr val="000000"/>
              </a:solidFill>
              <a:latin typeface="Nunito"/>
              <a:ea typeface="Nunito"/>
              <a:cs typeface="Nunito"/>
              <a:sym typeface="Nunito"/>
            </a:endParaRPr>
          </a:p>
          <a:p>
            <a:pPr indent="0" lvl="0" marL="0" rtl="0" algn="l">
              <a:lnSpc>
                <a:spcPct val="100000"/>
              </a:lnSpc>
              <a:spcBef>
                <a:spcPts val="1200"/>
              </a:spcBef>
              <a:spcAft>
                <a:spcPts val="0"/>
              </a:spcAft>
              <a:buNone/>
            </a:pPr>
            <a:r>
              <a:t/>
            </a:r>
            <a:endParaRPr sz="1100">
              <a:solidFill>
                <a:srgbClr val="000000"/>
              </a:solidFill>
              <a:latin typeface="Nunito"/>
              <a:ea typeface="Nunito"/>
              <a:cs typeface="Nunito"/>
              <a:sym typeface="Nunito"/>
            </a:endParaRPr>
          </a:p>
          <a:p>
            <a:pPr indent="0" lvl="0" marL="457200" rtl="0" algn="l">
              <a:lnSpc>
                <a:spcPct val="115000"/>
              </a:lnSpc>
              <a:spcBef>
                <a:spcPts val="1200"/>
              </a:spcBef>
              <a:spcAft>
                <a:spcPts val="0"/>
              </a:spcAft>
              <a:buNone/>
            </a:pPr>
            <a:r>
              <a:rPr lang="en" sz="1800">
                <a:latin typeface="Nunito"/>
                <a:ea typeface="Nunito"/>
                <a:cs typeface="Nunito"/>
                <a:sym typeface="Nunito"/>
              </a:rPr>
              <a:t>.</a:t>
            </a:r>
            <a:endParaRPr sz="1800">
              <a:latin typeface="Nunito"/>
              <a:ea typeface="Nunito"/>
              <a:cs typeface="Nunito"/>
              <a:sym typeface="Nunito"/>
            </a:endParaRPr>
          </a:p>
          <a:p>
            <a:pPr indent="0" lvl="0" marL="457200" rtl="0" algn="l">
              <a:lnSpc>
                <a:spcPct val="75000"/>
              </a:lnSpc>
              <a:spcBef>
                <a:spcPts val="1200"/>
              </a:spcBef>
              <a:spcAft>
                <a:spcPts val="0"/>
              </a:spcAft>
              <a:buSzPts val="533"/>
              <a:buNone/>
            </a:pPr>
            <a:r>
              <a:t/>
            </a:r>
            <a:endParaRPr sz="1800">
              <a:latin typeface="Nunito"/>
              <a:ea typeface="Nunito"/>
              <a:cs typeface="Nunito"/>
              <a:sym typeface="Nunito"/>
            </a:endParaRPr>
          </a:p>
          <a:p>
            <a:pPr indent="0" lvl="0" marL="457200" rtl="0" algn="l">
              <a:lnSpc>
                <a:spcPct val="75000"/>
              </a:lnSpc>
              <a:spcBef>
                <a:spcPts val="1200"/>
              </a:spcBef>
              <a:spcAft>
                <a:spcPts val="0"/>
              </a:spcAft>
              <a:buSzPts val="533"/>
              <a:buNone/>
            </a:pPr>
            <a:r>
              <a:t/>
            </a:r>
            <a:endParaRPr sz="1800"/>
          </a:p>
          <a:p>
            <a:pPr indent="0" lvl="0" marL="457200" rtl="0" algn="l">
              <a:lnSpc>
                <a:spcPct val="75000"/>
              </a:lnSpc>
              <a:spcBef>
                <a:spcPts val="1200"/>
              </a:spcBef>
              <a:spcAft>
                <a:spcPts val="1200"/>
              </a:spcAft>
              <a:buSzPts val="533"/>
              <a:buNone/>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3"/>
          <p:cNvSpPr txBox="1"/>
          <p:nvPr>
            <p:ph type="title"/>
          </p:nvPr>
        </p:nvSpPr>
        <p:spPr>
          <a:xfrm>
            <a:off x="782725" y="2094450"/>
            <a:ext cx="7505700" cy="954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